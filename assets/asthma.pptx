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sldIdLst>
    <p:sldId id="256" r:id="rId2"/>
    <p:sldId id="257" r:id="rId3"/>
    <p:sldId id="258" r:id="rId4"/>
    <p:sldId id="259" r:id="rId5"/>
    <p:sldId id="260" r:id="rId6"/>
    <p:sldId id="264"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2"/>
    <p:restoredTop sz="94681"/>
  </p:normalViewPr>
  <p:slideViewPr>
    <p:cSldViewPr snapToGrid="0" snapToObjects="1">
      <p:cViewPr varScale="1">
        <p:scale>
          <a:sx n="93" d="100"/>
          <a:sy n="93" d="100"/>
        </p:scale>
        <p:origin x="1072"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BED8B2-1EB5-3D48-8195-EEC2CFBE6D52}" type="datetimeFigureOut">
              <a:rPr lang="en-US" smtClean="0"/>
              <a:t>8/30/18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1867359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ED8B2-1EB5-3D48-8195-EEC2CFBE6D52}" type="datetimeFigureOut">
              <a:rPr lang="en-US" smtClean="0"/>
              <a:t>8/30/18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395296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EBED8B2-1EB5-3D48-8195-EEC2CFBE6D52}" type="datetimeFigureOut">
              <a:rPr lang="en-US" smtClean="0"/>
              <a:t>8/30/18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2081013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BED8B2-1EB5-3D48-8195-EEC2CFBE6D52}" type="datetimeFigureOut">
              <a:rPr lang="en-US" smtClean="0"/>
              <a:t>8/30/18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2923970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BED8B2-1EB5-3D48-8195-EEC2CFBE6D52}" type="datetimeFigureOut">
              <a:rPr lang="en-US" smtClean="0"/>
              <a:t>8/30/18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1305696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BED8B2-1EB5-3D48-8195-EEC2CFBE6D52}" type="datetimeFigureOut">
              <a:rPr lang="en-US" smtClean="0"/>
              <a:t>8/30/18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3104821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BED8B2-1EB5-3D48-8195-EEC2CFBE6D52}" type="datetimeFigureOut">
              <a:rPr lang="en-US" smtClean="0"/>
              <a:t>8/30/18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400563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BED8B2-1EB5-3D48-8195-EEC2CFBE6D52}" type="datetimeFigureOut">
              <a:rPr lang="en-US" smtClean="0"/>
              <a:t>8/30/18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2897004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BED8B2-1EB5-3D48-8195-EEC2CFBE6D52}" type="datetimeFigureOut">
              <a:rPr lang="en-US" smtClean="0"/>
              <a:t>8/30/18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3970676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ED8B2-1EB5-3D48-8195-EEC2CFBE6D52}" type="datetimeFigureOut">
              <a:rPr lang="en-US" smtClean="0"/>
              <a:t>8/30/18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1289635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ED8B2-1EB5-3D48-8195-EEC2CFBE6D52}" type="datetimeFigureOut">
              <a:rPr lang="en-US" smtClean="0"/>
              <a:t>8/30/18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6EAC-11BE-E44D-81D2-76A80D853F61}" type="slidenum">
              <a:rPr lang="en-US" smtClean="0"/>
              <a:t>‹#›</a:t>
            </a:fld>
            <a:endParaRPr lang="en-US"/>
          </a:p>
        </p:txBody>
      </p:sp>
    </p:spTree>
    <p:extLst>
      <p:ext uri="{BB962C8B-B14F-4D97-AF65-F5344CB8AC3E}">
        <p14:creationId xmlns:p14="http://schemas.microsoft.com/office/powerpoint/2010/main" val="407954131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ED8B2-1EB5-3D48-8195-EEC2CFBE6D52}" type="datetimeFigureOut">
              <a:rPr lang="en-US" smtClean="0"/>
              <a:t>8/30/18</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D56EAC-11BE-E44D-81D2-76A80D853F61}" type="slidenum">
              <a:rPr lang="en-US" smtClean="0"/>
              <a:t>‹#›</a:t>
            </a:fld>
            <a:endParaRPr lang="en-US"/>
          </a:p>
        </p:txBody>
      </p:sp>
    </p:spTree>
    <p:extLst>
      <p:ext uri="{BB962C8B-B14F-4D97-AF65-F5344CB8AC3E}">
        <p14:creationId xmlns:p14="http://schemas.microsoft.com/office/powerpoint/2010/main" val="3562242017"/>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8D6810-41F2-444C-9049-6172BF1949BC}"/>
              </a:ext>
            </a:extLst>
          </p:cNvPr>
          <p:cNvSpPr>
            <a:spLocks noGrp="1"/>
          </p:cNvSpPr>
          <p:nvPr>
            <p:ph type="ctrTitle"/>
          </p:nvPr>
        </p:nvSpPr>
        <p:spPr/>
        <p:txBody>
          <a:bodyPr>
            <a:normAutofit fontScale="90000"/>
          </a:bodyPr>
          <a:lstStyle/>
          <a:p>
            <a:r>
              <a:rPr lang="en-US" dirty="0"/>
              <a:t>Effects of Exercise on Short-Term Cognition After Varying Recovery Intervals with a Focus on the Effects of Asthma</a:t>
            </a:r>
          </a:p>
        </p:txBody>
      </p:sp>
      <p:sp>
        <p:nvSpPr>
          <p:cNvPr id="3" name="Subtitle 2">
            <a:extLst>
              <a:ext uri="{FF2B5EF4-FFF2-40B4-BE49-F238E27FC236}">
                <a16:creationId xmlns:a16="http://schemas.microsoft.com/office/drawing/2014/main" xmlns="" id="{23E84056-5391-144D-893B-DFEE367EC38B}"/>
              </a:ext>
            </a:extLst>
          </p:cNvPr>
          <p:cNvSpPr>
            <a:spLocks noGrp="1"/>
          </p:cNvSpPr>
          <p:nvPr>
            <p:ph type="subTitle" idx="1"/>
          </p:nvPr>
        </p:nvSpPr>
        <p:spPr>
          <a:xfrm>
            <a:off x="1524000" y="3602038"/>
            <a:ext cx="9144000" cy="2398712"/>
          </a:xfrm>
          <a:solidFill>
            <a:schemeClr val="bg2">
              <a:tint val="95000"/>
              <a:satMod val="170000"/>
            </a:schemeClr>
          </a:solidFill>
          <a:effectLst>
            <a:outerShdw sx="1000" sy="1000" algn="ctr" rotWithShape="0">
              <a:srgbClr val="000000"/>
            </a:outerShdw>
          </a:effectLst>
        </p:spPr>
        <p:txBody>
          <a:bodyPr wrap="square" lIns="91440">
            <a:normAutofit/>
          </a:bodyPr>
          <a:lstStyle/>
          <a:p>
            <a:endParaRPr lang="en-US" dirty="0"/>
          </a:p>
          <a:p>
            <a:r>
              <a:rPr lang="en-US" dirty="0">
                <a:solidFill>
                  <a:schemeClr val="accent5"/>
                </a:solidFill>
                <a:latin typeface="YuMincho" panose="02020500000000000000" pitchFamily="18" charset="-128"/>
                <a:ea typeface="YuMincho" panose="02020500000000000000" pitchFamily="18" charset="-128"/>
              </a:rPr>
              <a:t>⚽︎</a:t>
            </a:r>
            <a:r>
              <a:rPr lang="en-US" dirty="0">
                <a:solidFill>
                  <a:schemeClr val="accent5"/>
                </a:solidFill>
                <a:latin typeface="Hiragino Mincho ProN" panose="02020300000000000000" pitchFamily="18" charset="-128"/>
                <a:ea typeface="Hiragino Mincho ProN" panose="02020300000000000000" pitchFamily="18" charset="-128"/>
              </a:rPr>
              <a:t>⚠</a:t>
            </a:r>
            <a:r>
              <a:rPr lang="en-US" dirty="0">
                <a:solidFill>
                  <a:schemeClr val="accent5"/>
                </a:solidFill>
              </a:rPr>
              <a:t>✗♳✎ </a:t>
            </a:r>
          </a:p>
          <a:p>
            <a:r>
              <a:rPr lang="en-US" dirty="0"/>
              <a:t>Connor </a:t>
            </a:r>
            <a:r>
              <a:rPr lang="en-US" dirty="0" err="1"/>
              <a:t>Hennen</a:t>
            </a:r>
            <a:endParaRPr lang="en-US" dirty="0">
              <a:latin typeface="Menlo" panose="020B0609030804020204" pitchFamily="49" charset="0"/>
            </a:endParaRPr>
          </a:p>
          <a:p>
            <a:endParaRPr lang="en-US" dirty="0">
              <a:latin typeface="Apple Symbols" panose="02000000000000000000" pitchFamily="2" charset="-79"/>
              <a:cs typeface="Apple Symbols" panose="02000000000000000000" pitchFamily="2" charset="-79"/>
            </a:endParaRPr>
          </a:p>
          <a:p>
            <a:endParaRPr lang="en-US" dirty="0">
              <a:latin typeface="Menlo" panose="020B0609030804020204" pitchFamily="49" charset="0"/>
            </a:endParaRPr>
          </a:p>
          <a:p>
            <a:endParaRPr lang="en-US" dirty="0">
              <a:latin typeface="Menlo" panose="020B0609030804020204" pitchFamily="49" charset="0"/>
            </a:endParaRPr>
          </a:p>
          <a:p>
            <a:endParaRPr lang="en-US" dirty="0">
              <a:latin typeface="YuMincho" panose="02020500000000000000" pitchFamily="18" charset="-128"/>
              <a:ea typeface="YuMincho" panose="02020500000000000000" pitchFamily="18" charset="-128"/>
            </a:endParaRPr>
          </a:p>
          <a:p>
            <a:endParaRPr lang="en-US" dirty="0"/>
          </a:p>
        </p:txBody>
      </p:sp>
      <p:pic>
        <p:nvPicPr>
          <p:cNvPr id="1029" name="Picture 5" descr="page1image5817088">
            <a:extLst>
              <a:ext uri="{FF2B5EF4-FFF2-40B4-BE49-F238E27FC236}">
                <a16:creationId xmlns:a16="http://schemas.microsoft.com/office/drawing/2014/main" xmlns="" id="{DCB5C61B-2E93-CA4B-84FC-7F813E003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988"/>
            <a:ext cx="101600" cy="101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1image3677088">
            <a:extLst>
              <a:ext uri="{FF2B5EF4-FFF2-40B4-BE49-F238E27FC236}">
                <a16:creationId xmlns:a16="http://schemas.microsoft.com/office/drawing/2014/main" xmlns="" id="{391B1532-1AF9-FE43-B764-9EF626206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988"/>
            <a:ext cx="101600" cy="1016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1image3787744">
            <a:extLst>
              <a:ext uri="{FF2B5EF4-FFF2-40B4-BE49-F238E27FC236}">
                <a16:creationId xmlns:a16="http://schemas.microsoft.com/office/drawing/2014/main" xmlns="" id="{3EC052B7-6E7E-F648-AAFB-656D31B3A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988"/>
            <a:ext cx="101600" cy="10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81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page1image5817088">
            <a:extLst>
              <a:ext uri="{FF2B5EF4-FFF2-40B4-BE49-F238E27FC236}">
                <a16:creationId xmlns:a16="http://schemas.microsoft.com/office/drawing/2014/main" xmlns="" id="{DCB5C61B-2E93-CA4B-84FC-7F813E003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988"/>
            <a:ext cx="101600" cy="101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1image3677088">
            <a:extLst>
              <a:ext uri="{FF2B5EF4-FFF2-40B4-BE49-F238E27FC236}">
                <a16:creationId xmlns:a16="http://schemas.microsoft.com/office/drawing/2014/main" xmlns="" id="{391B1532-1AF9-FE43-B764-9EF626206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988"/>
            <a:ext cx="101600" cy="1016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1image3787744">
            <a:extLst>
              <a:ext uri="{FF2B5EF4-FFF2-40B4-BE49-F238E27FC236}">
                <a16:creationId xmlns:a16="http://schemas.microsoft.com/office/drawing/2014/main" xmlns="" id="{3EC052B7-6E7E-F648-AAFB-656D31B3A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988"/>
            <a:ext cx="101600" cy="1016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xmlns="" id="{F32D5BB1-24D6-8E4A-9A42-7AD298D86744}"/>
              </a:ext>
            </a:extLst>
          </p:cNvPr>
          <p:cNvSpPr txBox="1"/>
          <p:nvPr/>
        </p:nvSpPr>
        <p:spPr>
          <a:xfrm>
            <a:off x="823912" y="255588"/>
            <a:ext cx="10563226" cy="707886"/>
          </a:xfrm>
          <a:prstGeom prst="rect">
            <a:avLst/>
          </a:prstGeom>
          <a:solidFill>
            <a:schemeClr val="bg2">
              <a:tint val="95000"/>
              <a:satMod val="170000"/>
            </a:schemeClr>
          </a:solidFill>
        </p:spPr>
        <p:txBody>
          <a:bodyPr wrap="square" rtlCol="0">
            <a:spAutoFit/>
          </a:bodyPr>
          <a:lstStyle/>
          <a:p>
            <a:r>
              <a:rPr lang="en-US" sz="4000" dirty="0"/>
              <a:t>Experimental Content, Design and Key Metrics</a:t>
            </a:r>
          </a:p>
        </p:txBody>
      </p:sp>
      <p:sp>
        <p:nvSpPr>
          <p:cNvPr id="8" name="TextBox 7">
            <a:extLst>
              <a:ext uri="{FF2B5EF4-FFF2-40B4-BE49-F238E27FC236}">
                <a16:creationId xmlns:a16="http://schemas.microsoft.com/office/drawing/2014/main" xmlns="" id="{A3631BF0-0B06-6441-A9CA-EA9A081DD35B}"/>
              </a:ext>
            </a:extLst>
          </p:cNvPr>
          <p:cNvSpPr txBox="1"/>
          <p:nvPr/>
        </p:nvSpPr>
        <p:spPr>
          <a:xfrm>
            <a:off x="823912" y="887135"/>
            <a:ext cx="9705976" cy="6709529"/>
          </a:xfrm>
          <a:prstGeom prst="rect">
            <a:avLst/>
          </a:prstGeom>
          <a:noFill/>
        </p:spPr>
        <p:txBody>
          <a:bodyPr wrap="square" rtlCol="0">
            <a:spAutoFit/>
          </a:bodyPr>
          <a:lstStyle/>
          <a:p>
            <a:r>
              <a:rPr lang="en-US" sz="2400" b="1" dirty="0">
                <a:solidFill>
                  <a:schemeClr val="accent5"/>
                </a:solidFill>
              </a:rPr>
              <a:t>Key Response Variable of Interest</a:t>
            </a:r>
            <a:r>
              <a:rPr lang="en-US" sz="2400" dirty="0">
                <a:solidFill>
                  <a:schemeClr val="accent5"/>
                </a:solidFill>
              </a:rPr>
              <a:t>:</a:t>
            </a:r>
            <a:r>
              <a:rPr lang="en-US" sz="2400" dirty="0"/>
              <a:t> </a:t>
            </a:r>
            <a:r>
              <a:rPr lang="en-US" sz="2200" b="1" dirty="0"/>
              <a:t>Change in IQ </a:t>
            </a:r>
            <a:r>
              <a:rPr lang="en-US" sz="2200" dirty="0"/>
              <a:t>Before an Intense Multistage Fitness Test, and Afterwards</a:t>
            </a:r>
          </a:p>
          <a:p>
            <a:endParaRPr lang="en-US" sz="2200" dirty="0"/>
          </a:p>
          <a:p>
            <a:r>
              <a:rPr lang="en-US" sz="2400" b="1" dirty="0">
                <a:solidFill>
                  <a:schemeClr val="accent5"/>
                </a:solidFill>
              </a:rPr>
              <a:t>Experimental Design: </a:t>
            </a:r>
            <a:r>
              <a:rPr lang="en-US" sz="2200" b="1" dirty="0"/>
              <a:t>Basic Two-Way Factorial Design, with One Observational Factor and One Experimental Factor</a:t>
            </a:r>
          </a:p>
          <a:p>
            <a:endParaRPr lang="en-US" sz="2200" b="1" dirty="0"/>
          </a:p>
          <a:p>
            <a:r>
              <a:rPr lang="en-US" sz="2400" b="1" dirty="0">
                <a:solidFill>
                  <a:schemeClr val="accent5"/>
                </a:solidFill>
              </a:rPr>
              <a:t>Observational Factor: </a:t>
            </a:r>
            <a:r>
              <a:rPr lang="en-US" sz="2400" b="1" dirty="0"/>
              <a:t>Asthma</a:t>
            </a:r>
          </a:p>
          <a:p>
            <a:endParaRPr lang="en-US" sz="2400" b="1" dirty="0">
              <a:solidFill>
                <a:schemeClr val="accent5"/>
              </a:solidFill>
            </a:endParaRPr>
          </a:p>
          <a:p>
            <a:r>
              <a:rPr lang="en-US" sz="2400" b="1" dirty="0">
                <a:solidFill>
                  <a:schemeClr val="accent5"/>
                </a:solidFill>
              </a:rPr>
              <a:t>Treatment Factor: </a:t>
            </a:r>
            <a:r>
              <a:rPr lang="en-US" sz="2400" b="1" dirty="0"/>
              <a:t>Multistage Fitness Test </a:t>
            </a:r>
            <a:r>
              <a:rPr lang="en-US" sz="2400" dirty="0"/>
              <a:t>before a </a:t>
            </a:r>
            <a:r>
              <a:rPr lang="en-US" sz="2400" b="1" dirty="0"/>
              <a:t>rest period </a:t>
            </a:r>
            <a:r>
              <a:rPr lang="en-US" sz="2400" dirty="0"/>
              <a:t>of three levels – 5, 20, and 40 minutes</a:t>
            </a:r>
          </a:p>
          <a:p>
            <a:endParaRPr lang="en-US" sz="2400" b="1" dirty="0"/>
          </a:p>
          <a:p>
            <a:r>
              <a:rPr lang="en-US" sz="2400" b="1" dirty="0">
                <a:solidFill>
                  <a:schemeClr val="accent5"/>
                </a:solidFill>
              </a:rPr>
              <a:t>Factors of Interest: </a:t>
            </a:r>
            <a:r>
              <a:rPr lang="en-US" sz="2400" b="1" dirty="0"/>
              <a:t>Asthma </a:t>
            </a:r>
            <a:r>
              <a:rPr lang="en-US" sz="2400" dirty="0"/>
              <a:t>and </a:t>
            </a:r>
            <a:r>
              <a:rPr lang="en-US" sz="2400" b="1" dirty="0"/>
              <a:t>length of recovery interval</a:t>
            </a:r>
          </a:p>
          <a:p>
            <a:endParaRPr lang="en-US" sz="2400" b="1" dirty="0">
              <a:solidFill>
                <a:schemeClr val="accent5"/>
              </a:solidFill>
            </a:endParaRPr>
          </a:p>
          <a:p>
            <a:r>
              <a:rPr lang="en-US" sz="2400" b="1" dirty="0">
                <a:solidFill>
                  <a:schemeClr val="accent5"/>
                </a:solidFill>
              </a:rPr>
              <a:t>Sample Size: </a:t>
            </a:r>
            <a:r>
              <a:rPr lang="en-US" sz="2400" b="1" dirty="0"/>
              <a:t>1902–half with asthma, and half without.</a:t>
            </a:r>
          </a:p>
          <a:p>
            <a:endParaRPr lang="en-US" sz="2400" b="1" dirty="0"/>
          </a:p>
          <a:p>
            <a:r>
              <a:rPr lang="en-US" sz="2400" b="1" dirty="0">
                <a:solidFill>
                  <a:schemeClr val="accent5"/>
                </a:solidFill>
              </a:rPr>
              <a:t>Power: </a:t>
            </a:r>
            <a:r>
              <a:rPr lang="en-US" sz="2400" b="1" dirty="0"/>
              <a:t>Enough.</a:t>
            </a:r>
            <a:endParaRPr lang="en-US" sz="2400" b="1" dirty="0">
              <a:solidFill>
                <a:schemeClr val="accent5"/>
              </a:solidFill>
            </a:endParaRPr>
          </a:p>
          <a:p>
            <a:endParaRPr lang="en-US" dirty="0"/>
          </a:p>
          <a:p>
            <a:endParaRPr lang="en-US" dirty="0"/>
          </a:p>
          <a:p>
            <a:endParaRPr lang="en-US" dirty="0"/>
          </a:p>
        </p:txBody>
      </p:sp>
    </p:spTree>
    <p:extLst>
      <p:ext uri="{BB962C8B-B14F-4D97-AF65-F5344CB8AC3E}">
        <p14:creationId xmlns:p14="http://schemas.microsoft.com/office/powerpoint/2010/main" val="283905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F0AD1B8-B113-204C-ADAE-9CE826967EE1}"/>
              </a:ext>
            </a:extLst>
          </p:cNvPr>
          <p:cNvSpPr>
            <a:spLocks noGrp="1"/>
          </p:cNvSpPr>
          <p:nvPr>
            <p:ph idx="1"/>
          </p:nvPr>
        </p:nvSpPr>
        <p:spPr>
          <a:xfrm>
            <a:off x="838200" y="271462"/>
            <a:ext cx="10515600" cy="6309811"/>
          </a:xfrm>
        </p:spPr>
        <p:txBody>
          <a:bodyPr>
            <a:normAutofit fontScale="85000" lnSpcReduction="20000"/>
          </a:bodyPr>
          <a:lstStyle/>
          <a:p>
            <a:r>
              <a:rPr lang="en-US" b="1" dirty="0">
                <a:solidFill>
                  <a:schemeClr val="accent5"/>
                </a:solidFill>
              </a:rPr>
              <a:t>Primary Questions: </a:t>
            </a:r>
          </a:p>
          <a:p>
            <a:pPr lvl="1"/>
            <a:r>
              <a:rPr lang="en-US" dirty="0"/>
              <a:t>How does intense physical activity effect an individual’s immediate ability to think critically in the short-term? </a:t>
            </a:r>
          </a:p>
          <a:p>
            <a:pPr lvl="1"/>
            <a:r>
              <a:rPr lang="en-US" dirty="0"/>
              <a:t>Do we see effects that indicate severe exhaustion? Do these effects give way to beneficial effects, such as high wakefulness or intensity? Do the reduction of stress, in the form of test anxiety, outweigh the costs of fatigue? </a:t>
            </a:r>
          </a:p>
          <a:p>
            <a:pPr lvl="1"/>
            <a:r>
              <a:rPr lang="en-US" dirty="0"/>
              <a:t>What role does asthma play? Is it so severe as to render many individuals so incapacitated that they cannot think clearly at all?</a:t>
            </a:r>
          </a:p>
          <a:p>
            <a:pPr marL="0" indent="0">
              <a:buNone/>
            </a:pPr>
            <a:endParaRPr lang="en-US" dirty="0"/>
          </a:p>
          <a:p>
            <a:r>
              <a:rPr lang="en-US" b="1" dirty="0">
                <a:solidFill>
                  <a:schemeClr val="accent5"/>
                </a:solidFill>
              </a:rPr>
              <a:t>Procedure: </a:t>
            </a:r>
          </a:p>
          <a:p>
            <a:r>
              <a:rPr lang="en-US" sz="1800" dirty="0"/>
              <a:t>Create a little Python bot to scrape up all the Islanders and their information, ask them for consent, dropped those that were not interested, those that were dead, and those 4 years or younger. </a:t>
            </a:r>
          </a:p>
          <a:p>
            <a:r>
              <a:rPr lang="en-US" sz="1800" dirty="0"/>
              <a:t>Divide them into 2 groups: asthmatic and not asthmatic – roughly a 1:7 ratio. Randomly sample the non-asthmatics into the same size sample as the asthmatics.</a:t>
            </a:r>
          </a:p>
          <a:p>
            <a:r>
              <a:rPr lang="en-US" sz="1800" dirty="0"/>
              <a:t>Further divide these 2 groups into 3 groups each (6 total groups)--this time randomly. All groups took an IQ test, as I found that the other tests had extremely inconsistent scores for many of the same individuals, holding all else constant; IQ seemed the most comprehensive, reliable, and consistent. The groups were applied the experimental treatments at different levels. Two groups -- one from each type of observational sample -- was given one of the levels of rest period before taking the IQ test a second time. That is, two groups per rest period – no subject was tested for multiple levels, and all levels were tested by an equal number of subjects from both observational groups.  </a:t>
            </a:r>
          </a:p>
          <a:p>
            <a:r>
              <a:rPr lang="en-US" sz="1800" dirty="0"/>
              <a:t>Also, the initial IQ test was given at around the same time of day as the second test, so as to reduce the potential effects of sleepiness, grogginess, afternoon-lulls, etc., but on a different day, so as to reduce the potential effects of test fatigue and many other confounding effects associated with before and after testing.</a:t>
            </a:r>
          </a:p>
          <a:p>
            <a:r>
              <a:rPr lang="en-US" sz="1800" dirty="0"/>
              <a:t>Finally, I calculated the difference in pre-exercise IQ and post-exercise + rest IQ, in order to account for individual intelligence levels and reduce the noise, which should in large part be cancelled out already given my large sample sizes, even further.</a:t>
            </a:r>
          </a:p>
          <a:p>
            <a:pPr marL="0" indent="0">
              <a:buNone/>
            </a:pPr>
            <a:r>
              <a:rPr lang="en-US" sz="1800" dirty="0"/>
              <a:t> </a:t>
            </a:r>
          </a:p>
        </p:txBody>
      </p:sp>
    </p:spTree>
    <p:extLst>
      <p:ext uri="{BB962C8B-B14F-4D97-AF65-F5344CB8AC3E}">
        <p14:creationId xmlns:p14="http://schemas.microsoft.com/office/powerpoint/2010/main" val="3193294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xmlns="" id="{495555DB-B035-3049-9E37-B2CFA03A8071}"/>
              </a:ext>
            </a:extLst>
          </p:cNvPr>
          <p:cNvGraphicFramePr>
            <a:graphicFrameLocks noGrp="1"/>
          </p:cNvGraphicFramePr>
          <p:nvPr>
            <p:ph idx="1"/>
            <p:extLst>
              <p:ext uri="{D42A27DB-BD31-4B8C-83A1-F6EECF244321}">
                <p14:modId xmlns:p14="http://schemas.microsoft.com/office/powerpoint/2010/main" val="441124771"/>
              </p:ext>
            </p:extLst>
          </p:nvPr>
        </p:nvGraphicFramePr>
        <p:xfrm>
          <a:off x="304800" y="1867738"/>
          <a:ext cx="11534268" cy="2103120"/>
        </p:xfrm>
        <a:graphic>
          <a:graphicData uri="http://schemas.openxmlformats.org/drawingml/2006/table">
            <a:tbl>
              <a:tblPr firstRow="1" bandRow="1">
                <a:tableStyleId>{5C22544A-7EE6-4342-B048-85BDC9FD1C3A}</a:tableStyleId>
              </a:tblPr>
              <a:tblGrid>
                <a:gridCol w="1922378">
                  <a:extLst>
                    <a:ext uri="{9D8B030D-6E8A-4147-A177-3AD203B41FA5}">
                      <a16:colId xmlns:a16="http://schemas.microsoft.com/office/drawing/2014/main" xmlns="" val="1547612850"/>
                    </a:ext>
                  </a:extLst>
                </a:gridCol>
                <a:gridCol w="1922378">
                  <a:extLst>
                    <a:ext uri="{9D8B030D-6E8A-4147-A177-3AD203B41FA5}">
                      <a16:colId xmlns:a16="http://schemas.microsoft.com/office/drawing/2014/main" xmlns="" val="3187699450"/>
                    </a:ext>
                  </a:extLst>
                </a:gridCol>
                <a:gridCol w="1922378">
                  <a:extLst>
                    <a:ext uri="{9D8B030D-6E8A-4147-A177-3AD203B41FA5}">
                      <a16:colId xmlns:a16="http://schemas.microsoft.com/office/drawing/2014/main" xmlns="" val="1611736009"/>
                    </a:ext>
                  </a:extLst>
                </a:gridCol>
                <a:gridCol w="1922378">
                  <a:extLst>
                    <a:ext uri="{9D8B030D-6E8A-4147-A177-3AD203B41FA5}">
                      <a16:colId xmlns:a16="http://schemas.microsoft.com/office/drawing/2014/main" xmlns="" val="3909138415"/>
                    </a:ext>
                  </a:extLst>
                </a:gridCol>
                <a:gridCol w="1922378">
                  <a:extLst>
                    <a:ext uri="{9D8B030D-6E8A-4147-A177-3AD203B41FA5}">
                      <a16:colId xmlns:a16="http://schemas.microsoft.com/office/drawing/2014/main" xmlns="" val="1370609038"/>
                    </a:ext>
                  </a:extLst>
                </a:gridCol>
                <a:gridCol w="1922378">
                  <a:extLst>
                    <a:ext uri="{9D8B030D-6E8A-4147-A177-3AD203B41FA5}">
                      <a16:colId xmlns:a16="http://schemas.microsoft.com/office/drawing/2014/main" xmlns="" val="1858910552"/>
                    </a:ext>
                  </a:extLst>
                </a:gridCol>
              </a:tblGrid>
              <a:tr h="248856">
                <a:tc>
                  <a:txBody>
                    <a:bodyPr/>
                    <a:lstStyle/>
                    <a:p>
                      <a:endParaRPr lang="en-US" dirty="0"/>
                    </a:p>
                  </a:txBody>
                  <a:tcPr/>
                </a:tc>
                <a:tc>
                  <a:txBody>
                    <a:bodyPr/>
                    <a:lstStyle/>
                    <a:p>
                      <a:r>
                        <a:rPr lang="en-US" dirty="0"/>
                        <a:t>Deg. Freedom</a:t>
                      </a:r>
                    </a:p>
                  </a:txBody>
                  <a:tcPr/>
                </a:tc>
                <a:tc>
                  <a:txBody>
                    <a:bodyPr/>
                    <a:lstStyle/>
                    <a:p>
                      <a:r>
                        <a:rPr lang="en-US" dirty="0"/>
                        <a:t>Sum Squares</a:t>
                      </a:r>
                    </a:p>
                  </a:txBody>
                  <a:tcPr/>
                </a:tc>
                <a:tc>
                  <a:txBody>
                    <a:bodyPr/>
                    <a:lstStyle/>
                    <a:p>
                      <a:r>
                        <a:rPr lang="en-US" dirty="0"/>
                        <a:t>Mean Sum Sq.</a:t>
                      </a:r>
                    </a:p>
                  </a:txBody>
                  <a:tcPr/>
                </a:tc>
                <a:tc>
                  <a:txBody>
                    <a:bodyPr/>
                    <a:lstStyle/>
                    <a:p>
                      <a:r>
                        <a:rPr lang="en-US" dirty="0"/>
                        <a:t>F value</a:t>
                      </a:r>
                    </a:p>
                  </a:txBody>
                  <a:tcPr/>
                </a:tc>
                <a:tc>
                  <a:txBody>
                    <a:bodyPr/>
                    <a:lstStyle/>
                    <a:p>
                      <a:r>
                        <a:rPr lang="en-US" dirty="0" err="1"/>
                        <a:t>Pr</a:t>
                      </a:r>
                      <a:r>
                        <a:rPr lang="en-US" dirty="0"/>
                        <a:t>(&gt;F)</a:t>
                      </a:r>
                    </a:p>
                  </a:txBody>
                  <a:tcPr/>
                </a:tc>
                <a:extLst>
                  <a:ext uri="{0D108BD9-81ED-4DB2-BD59-A6C34878D82A}">
                    <a16:rowId xmlns:a16="http://schemas.microsoft.com/office/drawing/2014/main" xmlns="" val="2084117742"/>
                  </a:ext>
                </a:extLst>
              </a:tr>
              <a:tr h="361175">
                <a:tc>
                  <a:txBody>
                    <a:bodyPr/>
                    <a:lstStyle/>
                    <a:p>
                      <a:r>
                        <a:rPr lang="en-US" dirty="0"/>
                        <a:t>Asthma</a:t>
                      </a:r>
                    </a:p>
                  </a:txBody>
                  <a:tcPr/>
                </a:tc>
                <a:tc>
                  <a:txBody>
                    <a:bodyPr/>
                    <a:lstStyle/>
                    <a:p>
                      <a:r>
                        <a:rPr lang="en-US" dirty="0"/>
                        <a:t>1</a:t>
                      </a:r>
                    </a:p>
                  </a:txBody>
                  <a:tcPr/>
                </a:tc>
                <a:tc>
                  <a:txBody>
                    <a:bodyPr/>
                    <a:lstStyle/>
                    <a:p>
                      <a:r>
                        <a:rPr lang="en-US" dirty="0"/>
                        <a:t>273</a:t>
                      </a:r>
                    </a:p>
                  </a:txBody>
                  <a:tcPr/>
                </a:tc>
                <a:tc>
                  <a:txBody>
                    <a:bodyPr/>
                    <a:lstStyle/>
                    <a:p>
                      <a:r>
                        <a:rPr lang="en-US" dirty="0"/>
                        <a:t>272.6</a:t>
                      </a:r>
                    </a:p>
                  </a:txBody>
                  <a:tcPr/>
                </a:tc>
                <a:tc>
                  <a:txBody>
                    <a:bodyPr/>
                    <a:lstStyle/>
                    <a:p>
                      <a:r>
                        <a:rPr lang="en-US" dirty="0"/>
                        <a:t>3.537</a:t>
                      </a:r>
                    </a:p>
                  </a:txBody>
                  <a:tcPr/>
                </a:tc>
                <a:tc>
                  <a:txBody>
                    <a:bodyPr/>
                    <a:lstStyle/>
                    <a:p>
                      <a:r>
                        <a:rPr lang="en-US" dirty="0"/>
                        <a:t>0.0602 .</a:t>
                      </a:r>
                    </a:p>
                  </a:txBody>
                  <a:tcPr/>
                </a:tc>
                <a:extLst>
                  <a:ext uri="{0D108BD9-81ED-4DB2-BD59-A6C34878D82A}">
                    <a16:rowId xmlns:a16="http://schemas.microsoft.com/office/drawing/2014/main" xmlns="" val="2817897669"/>
                  </a:ext>
                </a:extLst>
              </a:tr>
              <a:tr h="248856">
                <a:tc>
                  <a:txBody>
                    <a:bodyPr/>
                    <a:lstStyle/>
                    <a:p>
                      <a:r>
                        <a:rPr lang="en-US" dirty="0" err="1"/>
                        <a:t>RestInterval</a:t>
                      </a:r>
                      <a:endParaRPr lang="en-US" dirty="0"/>
                    </a:p>
                  </a:txBody>
                  <a:tcPr/>
                </a:tc>
                <a:tc>
                  <a:txBody>
                    <a:bodyPr/>
                    <a:lstStyle/>
                    <a:p>
                      <a:r>
                        <a:rPr lang="en-US" dirty="0"/>
                        <a:t>2</a:t>
                      </a:r>
                    </a:p>
                  </a:txBody>
                  <a:tcPr/>
                </a:tc>
                <a:tc>
                  <a:txBody>
                    <a:bodyPr/>
                    <a:lstStyle/>
                    <a:p>
                      <a:r>
                        <a:rPr lang="en-US" dirty="0"/>
                        <a:t>3136</a:t>
                      </a:r>
                    </a:p>
                  </a:txBody>
                  <a:tcPr/>
                </a:tc>
                <a:tc>
                  <a:txBody>
                    <a:bodyPr/>
                    <a:lstStyle/>
                    <a:p>
                      <a:r>
                        <a:rPr lang="en-US" dirty="0"/>
                        <a:t>1568.1</a:t>
                      </a:r>
                    </a:p>
                  </a:txBody>
                  <a:tcPr/>
                </a:tc>
                <a:tc>
                  <a:txBody>
                    <a:bodyPr/>
                    <a:lstStyle/>
                    <a:p>
                      <a:r>
                        <a:rPr lang="en-US" dirty="0"/>
                        <a:t>20.348</a:t>
                      </a:r>
                    </a:p>
                  </a:txBody>
                  <a:tcPr/>
                </a:tc>
                <a:tc>
                  <a:txBody>
                    <a:bodyPr/>
                    <a:lstStyle/>
                    <a:p>
                      <a:r>
                        <a:rPr lang="en-US" dirty="0"/>
                        <a:t>1.8e-09 ***</a:t>
                      </a:r>
                    </a:p>
                  </a:txBody>
                  <a:tcPr/>
                </a:tc>
                <a:extLst>
                  <a:ext uri="{0D108BD9-81ED-4DB2-BD59-A6C34878D82A}">
                    <a16:rowId xmlns:a16="http://schemas.microsoft.com/office/drawing/2014/main" xmlns="" val="1959105903"/>
                  </a:ext>
                </a:extLst>
              </a:tr>
              <a:tr h="43549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Asthma*</a:t>
                      </a:r>
                    </a:p>
                    <a:p>
                      <a:pPr marL="0" marR="0" lvl="0" indent="0" algn="l" defTabSz="914377" rtl="0" eaLnBrk="1" fontAlgn="auto" latinLnBrk="0" hangingPunct="1">
                        <a:lnSpc>
                          <a:spcPct val="100000"/>
                        </a:lnSpc>
                        <a:spcBef>
                          <a:spcPts val="0"/>
                        </a:spcBef>
                        <a:spcAft>
                          <a:spcPts val="0"/>
                        </a:spcAft>
                        <a:buClrTx/>
                        <a:buSzTx/>
                        <a:buFontTx/>
                        <a:buNone/>
                        <a:tabLst/>
                        <a:defRPr/>
                      </a:pPr>
                      <a:r>
                        <a:rPr lang="en-US" dirty="0" err="1"/>
                        <a:t>RestInterval</a:t>
                      </a:r>
                      <a:endParaRPr lang="en-US" dirty="0"/>
                    </a:p>
                  </a:txBody>
                  <a:tcPr/>
                </a:tc>
                <a:tc>
                  <a:txBody>
                    <a:bodyPr/>
                    <a:lstStyle/>
                    <a:p>
                      <a:r>
                        <a:rPr lang="en-US" dirty="0"/>
                        <a:t>2</a:t>
                      </a:r>
                    </a:p>
                  </a:txBody>
                  <a:tcPr/>
                </a:tc>
                <a:tc>
                  <a:txBody>
                    <a:bodyPr/>
                    <a:lstStyle/>
                    <a:p>
                      <a:r>
                        <a:rPr lang="en-US" dirty="0"/>
                        <a:t>148</a:t>
                      </a:r>
                    </a:p>
                  </a:txBody>
                  <a:tcPr/>
                </a:tc>
                <a:tc>
                  <a:txBody>
                    <a:bodyPr/>
                    <a:lstStyle/>
                    <a:p>
                      <a:r>
                        <a:rPr lang="en-US" dirty="0"/>
                        <a:t>74.2</a:t>
                      </a:r>
                    </a:p>
                  </a:txBody>
                  <a:tcPr/>
                </a:tc>
                <a:tc>
                  <a:txBody>
                    <a:bodyPr/>
                    <a:lstStyle/>
                    <a:p>
                      <a:r>
                        <a:rPr lang="en-US" dirty="0"/>
                        <a:t>0.963</a:t>
                      </a:r>
                    </a:p>
                  </a:txBody>
                  <a:tcPr/>
                </a:tc>
                <a:tc>
                  <a:txBody>
                    <a:bodyPr/>
                    <a:lstStyle/>
                    <a:p>
                      <a:r>
                        <a:rPr lang="en-US" dirty="0"/>
                        <a:t>0.3820</a:t>
                      </a:r>
                    </a:p>
                  </a:txBody>
                  <a:tcPr/>
                </a:tc>
                <a:extLst>
                  <a:ext uri="{0D108BD9-81ED-4DB2-BD59-A6C34878D82A}">
                    <a16:rowId xmlns:a16="http://schemas.microsoft.com/office/drawing/2014/main" xmlns="" val="1068290342"/>
                  </a:ext>
                </a:extLst>
              </a:tr>
              <a:tr h="248856">
                <a:tc>
                  <a:txBody>
                    <a:bodyPr/>
                    <a:lstStyle/>
                    <a:p>
                      <a:endParaRPr lang="en-US" dirty="0"/>
                    </a:p>
                  </a:txBody>
                  <a:tcPr/>
                </a:tc>
                <a:tc>
                  <a:txBody>
                    <a:bodyPr/>
                    <a:lstStyle/>
                    <a:p>
                      <a:r>
                        <a:rPr lang="en-US" dirty="0"/>
                        <a:t>1896</a:t>
                      </a:r>
                    </a:p>
                  </a:txBody>
                  <a:tcPr/>
                </a:tc>
                <a:tc>
                  <a:txBody>
                    <a:bodyPr/>
                    <a:lstStyle/>
                    <a:p>
                      <a:r>
                        <a:rPr lang="en-US" dirty="0"/>
                        <a:t>146115</a:t>
                      </a:r>
                    </a:p>
                  </a:txBody>
                  <a:tcPr/>
                </a:tc>
                <a:tc>
                  <a:txBody>
                    <a:bodyPr/>
                    <a:lstStyle/>
                    <a:p>
                      <a:r>
                        <a:rPr lang="en-US" dirty="0"/>
                        <a:t>77.1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xmlns="" val="3126573164"/>
                  </a:ext>
                </a:extLst>
              </a:tr>
            </a:tbl>
          </a:graphicData>
        </a:graphic>
      </p:graphicFrame>
      <p:sp>
        <p:nvSpPr>
          <p:cNvPr id="11" name="TextBox 10">
            <a:extLst>
              <a:ext uri="{FF2B5EF4-FFF2-40B4-BE49-F238E27FC236}">
                <a16:creationId xmlns:a16="http://schemas.microsoft.com/office/drawing/2014/main" xmlns="" id="{716DE3DB-F4E7-6C42-AE31-497AF0D4F8F9}"/>
              </a:ext>
            </a:extLst>
          </p:cNvPr>
          <p:cNvSpPr txBox="1"/>
          <p:nvPr/>
        </p:nvSpPr>
        <p:spPr>
          <a:xfrm>
            <a:off x="838200" y="74032"/>
            <a:ext cx="7102642" cy="861774"/>
          </a:xfrm>
          <a:prstGeom prst="rect">
            <a:avLst/>
          </a:prstGeom>
          <a:noFill/>
        </p:spPr>
        <p:txBody>
          <a:bodyPr wrap="square" rtlCol="0">
            <a:spAutoFit/>
          </a:bodyPr>
          <a:lstStyle/>
          <a:p>
            <a:r>
              <a:rPr lang="en-US" sz="5000" b="1" dirty="0">
                <a:solidFill>
                  <a:schemeClr val="accent5"/>
                </a:solidFill>
              </a:rPr>
              <a:t>Findings</a:t>
            </a:r>
          </a:p>
        </p:txBody>
      </p:sp>
      <p:sp>
        <p:nvSpPr>
          <p:cNvPr id="12" name="TextBox 11">
            <a:extLst>
              <a:ext uri="{FF2B5EF4-FFF2-40B4-BE49-F238E27FC236}">
                <a16:creationId xmlns:a16="http://schemas.microsoft.com/office/drawing/2014/main" xmlns="" id="{6AB2F403-968F-0E43-B50C-EEA7E4E2CCD5}"/>
              </a:ext>
            </a:extLst>
          </p:cNvPr>
          <p:cNvSpPr txBox="1"/>
          <p:nvPr/>
        </p:nvSpPr>
        <p:spPr>
          <a:xfrm>
            <a:off x="838200" y="891436"/>
            <a:ext cx="8514348" cy="1477328"/>
          </a:xfrm>
          <a:prstGeom prst="rect">
            <a:avLst/>
          </a:prstGeom>
          <a:noFill/>
        </p:spPr>
        <p:txBody>
          <a:bodyPr wrap="square" rtlCol="0">
            <a:spAutoFit/>
          </a:bodyPr>
          <a:lstStyle/>
          <a:p>
            <a:r>
              <a:rPr lang="en-US" dirty="0" err="1"/>
              <a:t>Anova</a:t>
            </a:r>
            <a:r>
              <a:rPr lang="en-US" dirty="0"/>
              <a:t> with rest length as a factor and as numeric: </a:t>
            </a:r>
          </a:p>
          <a:p>
            <a:r>
              <a:rPr lang="en-US" dirty="0"/>
              <a:t>Table 1 -&gt; </a:t>
            </a:r>
            <a:r>
              <a:rPr lang="en-US" dirty="0" err="1"/>
              <a:t>aov</a:t>
            </a:r>
            <a:r>
              <a:rPr lang="en-US" dirty="0"/>
              <a:t>(</a:t>
            </a:r>
            <a:r>
              <a:rPr lang="en-US" dirty="0" err="1"/>
              <a:t>IQChange</a:t>
            </a:r>
            <a:r>
              <a:rPr lang="en-US" dirty="0"/>
              <a:t> ~ Asthma*</a:t>
            </a:r>
            <a:r>
              <a:rPr lang="en-US" dirty="0" err="1"/>
              <a:t>RestInterval</a:t>
            </a:r>
            <a:r>
              <a:rPr lang="en-US" dirty="0"/>
              <a:t>)</a:t>
            </a:r>
          </a:p>
          <a:p>
            <a:r>
              <a:rPr lang="en-US" dirty="0"/>
              <a:t>Table 2 -&gt; </a:t>
            </a:r>
            <a:r>
              <a:rPr lang="en-US" dirty="0" err="1"/>
              <a:t>aov</a:t>
            </a:r>
            <a:r>
              <a:rPr lang="en-US" dirty="0"/>
              <a:t>(</a:t>
            </a:r>
            <a:r>
              <a:rPr lang="en-US" dirty="0" err="1"/>
              <a:t>IQChange</a:t>
            </a:r>
            <a:r>
              <a:rPr lang="en-US" dirty="0"/>
              <a:t> ~ Asthma*</a:t>
            </a:r>
            <a:r>
              <a:rPr lang="en-US" dirty="0" err="1"/>
              <a:t>MinutesRested</a:t>
            </a:r>
            <a:r>
              <a:rPr lang="en-US" dirty="0"/>
              <a:t>)</a:t>
            </a:r>
          </a:p>
          <a:p>
            <a:endParaRPr lang="en-US" dirty="0"/>
          </a:p>
          <a:p>
            <a:endParaRPr lang="en-US" dirty="0"/>
          </a:p>
        </p:txBody>
      </p:sp>
      <p:graphicFrame>
        <p:nvGraphicFramePr>
          <p:cNvPr id="13" name="Content Placeholder 9">
            <a:extLst>
              <a:ext uri="{FF2B5EF4-FFF2-40B4-BE49-F238E27FC236}">
                <a16:creationId xmlns:a16="http://schemas.microsoft.com/office/drawing/2014/main" xmlns="" id="{E18FE06D-BCEA-FD42-9D21-A5E0CF2D5F0A}"/>
              </a:ext>
            </a:extLst>
          </p:cNvPr>
          <p:cNvGraphicFramePr>
            <a:graphicFrameLocks/>
          </p:cNvGraphicFramePr>
          <p:nvPr>
            <p:extLst>
              <p:ext uri="{D42A27DB-BD31-4B8C-83A1-F6EECF244321}">
                <p14:modId xmlns:p14="http://schemas.microsoft.com/office/powerpoint/2010/main" val="3550293254"/>
              </p:ext>
            </p:extLst>
          </p:nvPr>
        </p:nvGraphicFramePr>
        <p:xfrm>
          <a:off x="304800" y="4352256"/>
          <a:ext cx="11662608" cy="2103120"/>
        </p:xfrm>
        <a:graphic>
          <a:graphicData uri="http://schemas.openxmlformats.org/drawingml/2006/table">
            <a:tbl>
              <a:tblPr firstRow="1" bandRow="1">
                <a:tableStyleId>{5C22544A-7EE6-4342-B048-85BDC9FD1C3A}</a:tableStyleId>
              </a:tblPr>
              <a:tblGrid>
                <a:gridCol w="1943768">
                  <a:extLst>
                    <a:ext uri="{9D8B030D-6E8A-4147-A177-3AD203B41FA5}">
                      <a16:colId xmlns:a16="http://schemas.microsoft.com/office/drawing/2014/main" xmlns="" val="1547612850"/>
                    </a:ext>
                  </a:extLst>
                </a:gridCol>
                <a:gridCol w="1943768">
                  <a:extLst>
                    <a:ext uri="{9D8B030D-6E8A-4147-A177-3AD203B41FA5}">
                      <a16:colId xmlns:a16="http://schemas.microsoft.com/office/drawing/2014/main" xmlns="" val="3187699450"/>
                    </a:ext>
                  </a:extLst>
                </a:gridCol>
                <a:gridCol w="1943768">
                  <a:extLst>
                    <a:ext uri="{9D8B030D-6E8A-4147-A177-3AD203B41FA5}">
                      <a16:colId xmlns:a16="http://schemas.microsoft.com/office/drawing/2014/main" xmlns="" val="1611736009"/>
                    </a:ext>
                  </a:extLst>
                </a:gridCol>
                <a:gridCol w="1943768">
                  <a:extLst>
                    <a:ext uri="{9D8B030D-6E8A-4147-A177-3AD203B41FA5}">
                      <a16:colId xmlns:a16="http://schemas.microsoft.com/office/drawing/2014/main" xmlns="" val="3909138415"/>
                    </a:ext>
                  </a:extLst>
                </a:gridCol>
                <a:gridCol w="1943768">
                  <a:extLst>
                    <a:ext uri="{9D8B030D-6E8A-4147-A177-3AD203B41FA5}">
                      <a16:colId xmlns:a16="http://schemas.microsoft.com/office/drawing/2014/main" xmlns="" val="1370609038"/>
                    </a:ext>
                  </a:extLst>
                </a:gridCol>
                <a:gridCol w="1943768">
                  <a:extLst>
                    <a:ext uri="{9D8B030D-6E8A-4147-A177-3AD203B41FA5}">
                      <a16:colId xmlns:a16="http://schemas.microsoft.com/office/drawing/2014/main" xmlns="" val="1858910552"/>
                    </a:ext>
                  </a:extLst>
                </a:gridCol>
              </a:tblGrid>
              <a:tr h="295345">
                <a:tc>
                  <a:txBody>
                    <a:bodyPr/>
                    <a:lstStyle/>
                    <a:p>
                      <a:endParaRPr lang="en-US" dirty="0"/>
                    </a:p>
                  </a:txBody>
                  <a:tcPr/>
                </a:tc>
                <a:tc>
                  <a:txBody>
                    <a:bodyPr/>
                    <a:lstStyle/>
                    <a:p>
                      <a:r>
                        <a:rPr lang="en-US" dirty="0"/>
                        <a:t>Deg. Freedom</a:t>
                      </a:r>
                    </a:p>
                  </a:txBody>
                  <a:tcPr/>
                </a:tc>
                <a:tc>
                  <a:txBody>
                    <a:bodyPr/>
                    <a:lstStyle/>
                    <a:p>
                      <a:r>
                        <a:rPr lang="en-US" dirty="0"/>
                        <a:t>Sum Squares</a:t>
                      </a:r>
                    </a:p>
                  </a:txBody>
                  <a:tcPr/>
                </a:tc>
                <a:tc>
                  <a:txBody>
                    <a:bodyPr/>
                    <a:lstStyle/>
                    <a:p>
                      <a:r>
                        <a:rPr lang="en-US" dirty="0"/>
                        <a:t>Mean Sum Sq.</a:t>
                      </a:r>
                    </a:p>
                  </a:txBody>
                  <a:tcPr/>
                </a:tc>
                <a:tc>
                  <a:txBody>
                    <a:bodyPr/>
                    <a:lstStyle/>
                    <a:p>
                      <a:r>
                        <a:rPr lang="en-US" dirty="0"/>
                        <a:t>F value</a:t>
                      </a:r>
                    </a:p>
                  </a:txBody>
                  <a:tcPr/>
                </a:tc>
                <a:tc>
                  <a:txBody>
                    <a:bodyPr/>
                    <a:lstStyle/>
                    <a:p>
                      <a:r>
                        <a:rPr lang="en-US" dirty="0" err="1"/>
                        <a:t>Pr</a:t>
                      </a:r>
                      <a:r>
                        <a:rPr lang="en-US" dirty="0"/>
                        <a:t>(&gt;F)</a:t>
                      </a:r>
                    </a:p>
                  </a:txBody>
                  <a:tcPr/>
                </a:tc>
                <a:extLst>
                  <a:ext uri="{0D108BD9-81ED-4DB2-BD59-A6C34878D82A}">
                    <a16:rowId xmlns:a16="http://schemas.microsoft.com/office/drawing/2014/main" xmlns="" val="2084117742"/>
                  </a:ext>
                </a:extLst>
              </a:tr>
              <a:tr h="248856">
                <a:tc>
                  <a:txBody>
                    <a:bodyPr/>
                    <a:lstStyle/>
                    <a:p>
                      <a:r>
                        <a:rPr lang="en-US" dirty="0"/>
                        <a:t>Asthma</a:t>
                      </a:r>
                    </a:p>
                  </a:txBody>
                  <a:tcPr/>
                </a:tc>
                <a:tc>
                  <a:txBody>
                    <a:bodyPr/>
                    <a:lstStyle/>
                    <a:p>
                      <a:r>
                        <a:rPr lang="en-US" dirty="0"/>
                        <a:t>1</a:t>
                      </a:r>
                    </a:p>
                  </a:txBody>
                  <a:tcPr/>
                </a:tc>
                <a:tc>
                  <a:txBody>
                    <a:bodyPr/>
                    <a:lstStyle/>
                    <a:p>
                      <a:r>
                        <a:rPr lang="en-US" dirty="0"/>
                        <a:t>273</a:t>
                      </a:r>
                    </a:p>
                  </a:txBody>
                  <a:tcPr/>
                </a:tc>
                <a:tc>
                  <a:txBody>
                    <a:bodyPr/>
                    <a:lstStyle/>
                    <a:p>
                      <a:r>
                        <a:rPr lang="en-US" dirty="0"/>
                        <a:t>272.6</a:t>
                      </a:r>
                    </a:p>
                  </a:txBody>
                  <a:tcPr/>
                </a:tc>
                <a:tc>
                  <a:txBody>
                    <a:bodyPr/>
                    <a:lstStyle/>
                    <a:p>
                      <a:r>
                        <a:rPr lang="en-US" dirty="0"/>
                        <a:t>3.507</a:t>
                      </a:r>
                    </a:p>
                  </a:txBody>
                  <a:tcPr/>
                </a:tc>
                <a:tc>
                  <a:txBody>
                    <a:bodyPr/>
                    <a:lstStyle/>
                    <a:p>
                      <a:r>
                        <a:rPr lang="en-US" dirty="0"/>
                        <a:t>0.0613 . </a:t>
                      </a:r>
                    </a:p>
                  </a:txBody>
                  <a:tcPr/>
                </a:tc>
                <a:extLst>
                  <a:ext uri="{0D108BD9-81ED-4DB2-BD59-A6C34878D82A}">
                    <a16:rowId xmlns:a16="http://schemas.microsoft.com/office/drawing/2014/main" xmlns="" val="2817897669"/>
                  </a:ext>
                </a:extLst>
              </a:tr>
              <a:tr h="332019">
                <a:tc>
                  <a:txBody>
                    <a:bodyPr/>
                    <a:lstStyle/>
                    <a:p>
                      <a:r>
                        <a:rPr lang="en-US" dirty="0" err="1"/>
                        <a:t>MinutesRested</a:t>
                      </a:r>
                      <a:endParaRPr lang="en-US" dirty="0"/>
                    </a:p>
                  </a:txBody>
                  <a:tcPr/>
                </a:tc>
                <a:tc>
                  <a:txBody>
                    <a:bodyPr/>
                    <a:lstStyle/>
                    <a:p>
                      <a:r>
                        <a:rPr lang="en-US" dirty="0"/>
                        <a:t>1</a:t>
                      </a:r>
                    </a:p>
                  </a:txBody>
                  <a:tcPr/>
                </a:tc>
                <a:tc>
                  <a:txBody>
                    <a:bodyPr/>
                    <a:lstStyle/>
                    <a:p>
                      <a:r>
                        <a:rPr lang="en-US" dirty="0"/>
                        <a:t>1890</a:t>
                      </a:r>
                    </a:p>
                  </a:txBody>
                  <a:tcPr/>
                </a:tc>
                <a:tc>
                  <a:txBody>
                    <a:bodyPr/>
                    <a:lstStyle/>
                    <a:p>
                      <a:r>
                        <a:rPr lang="en-US" dirty="0"/>
                        <a:t>1889.6</a:t>
                      </a:r>
                    </a:p>
                  </a:txBody>
                  <a:tcPr/>
                </a:tc>
                <a:tc>
                  <a:txBody>
                    <a:bodyPr/>
                    <a:lstStyle/>
                    <a:p>
                      <a:r>
                        <a:rPr lang="en-US" dirty="0"/>
                        <a:t>24.313</a:t>
                      </a:r>
                    </a:p>
                  </a:txBody>
                  <a:tcPr/>
                </a:tc>
                <a:tc>
                  <a:txBody>
                    <a:bodyPr/>
                    <a:lstStyle/>
                    <a:p>
                      <a:r>
                        <a:rPr lang="en-US" dirty="0"/>
                        <a:t>8.9e-07 ***</a:t>
                      </a:r>
                    </a:p>
                  </a:txBody>
                  <a:tcPr/>
                </a:tc>
                <a:extLst>
                  <a:ext uri="{0D108BD9-81ED-4DB2-BD59-A6C34878D82A}">
                    <a16:rowId xmlns:a16="http://schemas.microsoft.com/office/drawing/2014/main" xmlns="" val="1959105903"/>
                  </a:ext>
                </a:extLst>
              </a:tr>
              <a:tr h="435498">
                <a:tc>
                  <a:txBody>
                    <a:bodyPr/>
                    <a:lstStyle/>
                    <a:p>
                      <a:r>
                        <a:rPr lang="en-US" dirty="0"/>
                        <a:t>Asthma*</a:t>
                      </a:r>
                    </a:p>
                    <a:p>
                      <a:pPr marL="0" marR="0" lvl="0" indent="0" algn="l" defTabSz="914377" rtl="0" eaLnBrk="1" fontAlgn="auto" latinLnBrk="0" hangingPunct="1">
                        <a:lnSpc>
                          <a:spcPct val="100000"/>
                        </a:lnSpc>
                        <a:spcBef>
                          <a:spcPts val="0"/>
                        </a:spcBef>
                        <a:spcAft>
                          <a:spcPts val="0"/>
                        </a:spcAft>
                        <a:buClrTx/>
                        <a:buSzTx/>
                        <a:buFontTx/>
                        <a:buNone/>
                        <a:tabLst/>
                        <a:defRPr/>
                      </a:pPr>
                      <a:r>
                        <a:rPr lang="en-US" dirty="0" err="1"/>
                        <a:t>MinutesRested</a:t>
                      </a:r>
                      <a:endParaRPr lang="en-US" dirty="0"/>
                    </a:p>
                  </a:txBody>
                  <a:tcPr/>
                </a:tc>
                <a:tc>
                  <a:txBody>
                    <a:bodyPr/>
                    <a:lstStyle/>
                    <a:p>
                      <a:r>
                        <a:rPr lang="en-US" dirty="0"/>
                        <a:t>1</a:t>
                      </a:r>
                    </a:p>
                  </a:txBody>
                  <a:tcPr/>
                </a:tc>
                <a:tc>
                  <a:txBody>
                    <a:bodyPr/>
                    <a:lstStyle/>
                    <a:p>
                      <a:r>
                        <a:rPr lang="en-US" dirty="0"/>
                        <a:t>3</a:t>
                      </a:r>
                    </a:p>
                  </a:txBody>
                  <a:tcPr/>
                </a:tc>
                <a:tc>
                  <a:txBody>
                    <a:bodyPr/>
                    <a:lstStyle/>
                    <a:p>
                      <a:r>
                        <a:rPr lang="en-US" dirty="0"/>
                        <a:t>3.0</a:t>
                      </a:r>
                    </a:p>
                  </a:txBody>
                  <a:tcPr/>
                </a:tc>
                <a:tc>
                  <a:txBody>
                    <a:bodyPr/>
                    <a:lstStyle/>
                    <a:p>
                      <a:r>
                        <a:rPr lang="en-US" dirty="0"/>
                        <a:t>0.038</a:t>
                      </a:r>
                    </a:p>
                  </a:txBody>
                  <a:tcPr/>
                </a:tc>
                <a:tc>
                  <a:txBody>
                    <a:bodyPr/>
                    <a:lstStyle/>
                    <a:p>
                      <a:r>
                        <a:rPr lang="en-US" dirty="0"/>
                        <a:t>0.8447 </a:t>
                      </a:r>
                    </a:p>
                  </a:txBody>
                  <a:tcPr/>
                </a:tc>
                <a:extLst>
                  <a:ext uri="{0D108BD9-81ED-4DB2-BD59-A6C34878D82A}">
                    <a16:rowId xmlns:a16="http://schemas.microsoft.com/office/drawing/2014/main" xmlns="" val="1068290342"/>
                  </a:ext>
                </a:extLst>
              </a:tr>
              <a:tr h="248856">
                <a:tc>
                  <a:txBody>
                    <a:bodyPr/>
                    <a:lstStyle/>
                    <a:p>
                      <a:endParaRPr lang="en-US" dirty="0"/>
                    </a:p>
                  </a:txBody>
                  <a:tcPr/>
                </a:tc>
                <a:tc>
                  <a:txBody>
                    <a:bodyPr/>
                    <a:lstStyle/>
                    <a:p>
                      <a:r>
                        <a:rPr lang="en-US" dirty="0"/>
                        <a:t>1898</a:t>
                      </a:r>
                    </a:p>
                  </a:txBody>
                  <a:tcPr/>
                </a:tc>
                <a:tc>
                  <a:txBody>
                    <a:bodyPr/>
                    <a:lstStyle/>
                    <a:p>
                      <a:r>
                        <a:rPr lang="en-US" dirty="0"/>
                        <a:t>147508</a:t>
                      </a:r>
                    </a:p>
                  </a:txBody>
                  <a:tcPr/>
                </a:tc>
                <a:tc>
                  <a:txBody>
                    <a:bodyPr/>
                    <a:lstStyle/>
                    <a:p>
                      <a:r>
                        <a:rPr lang="en-US" dirty="0"/>
                        <a:t>77.7 </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xmlns="" val="3126573164"/>
                  </a:ext>
                </a:extLst>
              </a:tr>
            </a:tbl>
          </a:graphicData>
        </a:graphic>
      </p:graphicFrame>
    </p:spTree>
    <p:extLst>
      <p:ext uri="{BB962C8B-B14F-4D97-AF65-F5344CB8AC3E}">
        <p14:creationId xmlns:p14="http://schemas.microsoft.com/office/powerpoint/2010/main" val="1190986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xmlns="" id="{495555DB-B035-3049-9E37-B2CFA03A8071}"/>
              </a:ext>
            </a:extLst>
          </p:cNvPr>
          <p:cNvGraphicFramePr>
            <a:graphicFrameLocks noGrp="1"/>
          </p:cNvGraphicFramePr>
          <p:nvPr>
            <p:ph idx="1"/>
            <p:extLst>
              <p:ext uri="{D42A27DB-BD31-4B8C-83A1-F6EECF244321}">
                <p14:modId xmlns:p14="http://schemas.microsoft.com/office/powerpoint/2010/main" val="1167545293"/>
              </p:ext>
            </p:extLst>
          </p:nvPr>
        </p:nvGraphicFramePr>
        <p:xfrm>
          <a:off x="433137" y="1825625"/>
          <a:ext cx="11534268" cy="2103120"/>
        </p:xfrm>
        <a:graphic>
          <a:graphicData uri="http://schemas.openxmlformats.org/drawingml/2006/table">
            <a:tbl>
              <a:tblPr firstRow="1" bandRow="1">
                <a:tableStyleId>{5C22544A-7EE6-4342-B048-85BDC9FD1C3A}</a:tableStyleId>
              </a:tblPr>
              <a:tblGrid>
                <a:gridCol w="1922378">
                  <a:extLst>
                    <a:ext uri="{9D8B030D-6E8A-4147-A177-3AD203B41FA5}">
                      <a16:colId xmlns:a16="http://schemas.microsoft.com/office/drawing/2014/main" xmlns="" val="1547612850"/>
                    </a:ext>
                  </a:extLst>
                </a:gridCol>
                <a:gridCol w="1922378">
                  <a:extLst>
                    <a:ext uri="{9D8B030D-6E8A-4147-A177-3AD203B41FA5}">
                      <a16:colId xmlns:a16="http://schemas.microsoft.com/office/drawing/2014/main" xmlns="" val="3187699450"/>
                    </a:ext>
                  </a:extLst>
                </a:gridCol>
                <a:gridCol w="1922378">
                  <a:extLst>
                    <a:ext uri="{9D8B030D-6E8A-4147-A177-3AD203B41FA5}">
                      <a16:colId xmlns:a16="http://schemas.microsoft.com/office/drawing/2014/main" xmlns="" val="1611736009"/>
                    </a:ext>
                  </a:extLst>
                </a:gridCol>
                <a:gridCol w="1922378">
                  <a:extLst>
                    <a:ext uri="{9D8B030D-6E8A-4147-A177-3AD203B41FA5}">
                      <a16:colId xmlns:a16="http://schemas.microsoft.com/office/drawing/2014/main" xmlns="" val="3909138415"/>
                    </a:ext>
                  </a:extLst>
                </a:gridCol>
                <a:gridCol w="1922378">
                  <a:extLst>
                    <a:ext uri="{9D8B030D-6E8A-4147-A177-3AD203B41FA5}">
                      <a16:colId xmlns:a16="http://schemas.microsoft.com/office/drawing/2014/main" xmlns="" val="1370609038"/>
                    </a:ext>
                  </a:extLst>
                </a:gridCol>
                <a:gridCol w="1922378">
                  <a:extLst>
                    <a:ext uri="{9D8B030D-6E8A-4147-A177-3AD203B41FA5}">
                      <a16:colId xmlns:a16="http://schemas.microsoft.com/office/drawing/2014/main" xmlns="" val="1858910552"/>
                    </a:ext>
                  </a:extLst>
                </a:gridCol>
              </a:tblGrid>
              <a:tr h="248856">
                <a:tc>
                  <a:txBody>
                    <a:bodyPr/>
                    <a:lstStyle/>
                    <a:p>
                      <a:endParaRPr lang="en-US" dirty="0"/>
                    </a:p>
                  </a:txBody>
                  <a:tcPr/>
                </a:tc>
                <a:tc>
                  <a:txBody>
                    <a:bodyPr/>
                    <a:lstStyle/>
                    <a:p>
                      <a:r>
                        <a:rPr lang="en-US" dirty="0"/>
                        <a:t>Deg. Freedom</a:t>
                      </a:r>
                    </a:p>
                  </a:txBody>
                  <a:tcPr/>
                </a:tc>
                <a:tc>
                  <a:txBody>
                    <a:bodyPr/>
                    <a:lstStyle/>
                    <a:p>
                      <a:r>
                        <a:rPr lang="en-US" dirty="0"/>
                        <a:t>Sum Squares</a:t>
                      </a:r>
                    </a:p>
                  </a:txBody>
                  <a:tcPr/>
                </a:tc>
                <a:tc>
                  <a:txBody>
                    <a:bodyPr/>
                    <a:lstStyle/>
                    <a:p>
                      <a:r>
                        <a:rPr lang="en-US" dirty="0"/>
                        <a:t>Mean Sum Sq.</a:t>
                      </a:r>
                    </a:p>
                  </a:txBody>
                  <a:tcPr/>
                </a:tc>
                <a:tc>
                  <a:txBody>
                    <a:bodyPr/>
                    <a:lstStyle/>
                    <a:p>
                      <a:r>
                        <a:rPr lang="en-US" dirty="0"/>
                        <a:t>F value</a:t>
                      </a:r>
                    </a:p>
                  </a:txBody>
                  <a:tcPr/>
                </a:tc>
                <a:tc>
                  <a:txBody>
                    <a:bodyPr/>
                    <a:lstStyle/>
                    <a:p>
                      <a:r>
                        <a:rPr lang="en-US" dirty="0" err="1"/>
                        <a:t>Pr</a:t>
                      </a:r>
                      <a:r>
                        <a:rPr lang="en-US" dirty="0"/>
                        <a:t>(&gt;F)</a:t>
                      </a:r>
                    </a:p>
                  </a:txBody>
                  <a:tcPr/>
                </a:tc>
                <a:extLst>
                  <a:ext uri="{0D108BD9-81ED-4DB2-BD59-A6C34878D82A}">
                    <a16:rowId xmlns:a16="http://schemas.microsoft.com/office/drawing/2014/main" xmlns="" val="2084117742"/>
                  </a:ext>
                </a:extLst>
              </a:tr>
              <a:tr h="248856">
                <a:tc>
                  <a:txBody>
                    <a:bodyPr/>
                    <a:lstStyle/>
                    <a:p>
                      <a:r>
                        <a:rPr lang="en-US" dirty="0"/>
                        <a:t>Asthma</a:t>
                      </a:r>
                    </a:p>
                  </a:txBody>
                  <a:tcPr/>
                </a:tc>
                <a:tc>
                  <a:txBody>
                    <a:bodyPr/>
                    <a:lstStyle/>
                    <a:p>
                      <a:r>
                        <a:rPr lang="en-US" dirty="0"/>
                        <a:t>1</a:t>
                      </a:r>
                    </a:p>
                  </a:txBody>
                  <a:tcPr/>
                </a:tc>
                <a:tc>
                  <a:txBody>
                    <a:bodyPr/>
                    <a:lstStyle/>
                    <a:p>
                      <a:r>
                        <a:rPr lang="en-US" dirty="0"/>
                        <a:t>861</a:t>
                      </a:r>
                    </a:p>
                  </a:txBody>
                  <a:tcPr/>
                </a:tc>
                <a:tc>
                  <a:txBody>
                    <a:bodyPr/>
                    <a:lstStyle/>
                    <a:p>
                      <a:r>
                        <a:rPr lang="en-US" dirty="0"/>
                        <a:t>861</a:t>
                      </a:r>
                    </a:p>
                  </a:txBody>
                  <a:tcPr/>
                </a:tc>
                <a:tc>
                  <a:txBody>
                    <a:bodyPr/>
                    <a:lstStyle/>
                    <a:p>
                      <a:r>
                        <a:rPr lang="en-US" dirty="0"/>
                        <a:t>4.394</a:t>
                      </a:r>
                    </a:p>
                  </a:txBody>
                  <a:tcPr/>
                </a:tc>
                <a:tc>
                  <a:txBody>
                    <a:bodyPr/>
                    <a:lstStyle/>
                    <a:p>
                      <a:r>
                        <a:rPr lang="en-US" dirty="0"/>
                        <a:t>0.0362 *</a:t>
                      </a:r>
                    </a:p>
                  </a:txBody>
                  <a:tcPr/>
                </a:tc>
                <a:extLst>
                  <a:ext uri="{0D108BD9-81ED-4DB2-BD59-A6C34878D82A}">
                    <a16:rowId xmlns:a16="http://schemas.microsoft.com/office/drawing/2014/main" xmlns="" val="2817897669"/>
                  </a:ext>
                </a:extLst>
              </a:tr>
              <a:tr h="248856">
                <a:tc>
                  <a:txBody>
                    <a:bodyPr/>
                    <a:lstStyle/>
                    <a:p>
                      <a:r>
                        <a:rPr lang="en-US" dirty="0" err="1"/>
                        <a:t>RestInterval</a:t>
                      </a:r>
                      <a:endParaRPr lang="en-US" dirty="0"/>
                    </a:p>
                  </a:txBody>
                  <a:tcPr/>
                </a:tc>
                <a:tc>
                  <a:txBody>
                    <a:bodyPr/>
                    <a:lstStyle/>
                    <a:p>
                      <a:r>
                        <a:rPr lang="en-US" dirty="0"/>
                        <a:t>2</a:t>
                      </a:r>
                    </a:p>
                  </a:txBody>
                  <a:tcPr/>
                </a:tc>
                <a:tc>
                  <a:txBody>
                    <a:bodyPr/>
                    <a:lstStyle/>
                    <a:p>
                      <a:r>
                        <a:rPr lang="en-US" dirty="0"/>
                        <a:t>7760</a:t>
                      </a:r>
                    </a:p>
                  </a:txBody>
                  <a:tcPr/>
                </a:tc>
                <a:tc>
                  <a:txBody>
                    <a:bodyPr/>
                    <a:lstStyle/>
                    <a:p>
                      <a:r>
                        <a:rPr lang="en-US" dirty="0"/>
                        <a:t>3880</a:t>
                      </a:r>
                    </a:p>
                  </a:txBody>
                  <a:tcPr/>
                </a:tc>
                <a:tc>
                  <a:txBody>
                    <a:bodyPr/>
                    <a:lstStyle/>
                    <a:p>
                      <a:r>
                        <a:rPr lang="en-US" dirty="0"/>
                        <a:t>19.804</a:t>
                      </a:r>
                    </a:p>
                  </a:txBody>
                  <a:tcPr/>
                </a:tc>
                <a:tc>
                  <a:txBody>
                    <a:bodyPr/>
                    <a:lstStyle/>
                    <a:p>
                      <a:r>
                        <a:rPr lang="en-US" dirty="0"/>
                        <a:t>3.07e-09 ***</a:t>
                      </a:r>
                    </a:p>
                  </a:txBody>
                  <a:tcPr/>
                </a:tc>
                <a:extLst>
                  <a:ext uri="{0D108BD9-81ED-4DB2-BD59-A6C34878D82A}">
                    <a16:rowId xmlns:a16="http://schemas.microsoft.com/office/drawing/2014/main" xmlns="" val="1959105903"/>
                  </a:ext>
                </a:extLst>
              </a:tr>
              <a:tr h="435498">
                <a:tc>
                  <a:txBody>
                    <a:bodyPr/>
                    <a:lstStyle/>
                    <a:p>
                      <a:r>
                        <a:rPr lang="en-US" dirty="0"/>
                        <a:t>Asthma*Rest Interval</a:t>
                      </a:r>
                    </a:p>
                  </a:txBody>
                  <a:tcPr/>
                </a:tc>
                <a:tc>
                  <a:txBody>
                    <a:bodyPr/>
                    <a:lstStyle/>
                    <a:p>
                      <a:r>
                        <a:rPr lang="en-US" dirty="0"/>
                        <a:t>2</a:t>
                      </a:r>
                    </a:p>
                  </a:txBody>
                  <a:tcPr/>
                </a:tc>
                <a:tc>
                  <a:txBody>
                    <a:bodyPr/>
                    <a:lstStyle/>
                    <a:p>
                      <a:r>
                        <a:rPr lang="en-US" dirty="0"/>
                        <a:t>441</a:t>
                      </a:r>
                    </a:p>
                  </a:txBody>
                  <a:tcPr/>
                </a:tc>
                <a:tc>
                  <a:txBody>
                    <a:bodyPr/>
                    <a:lstStyle/>
                    <a:p>
                      <a:r>
                        <a:rPr lang="en-US" dirty="0"/>
                        <a:t>220</a:t>
                      </a:r>
                    </a:p>
                  </a:txBody>
                  <a:tcPr/>
                </a:tc>
                <a:tc>
                  <a:txBody>
                    <a:bodyPr/>
                    <a:lstStyle/>
                    <a:p>
                      <a:r>
                        <a:rPr lang="en-US" dirty="0"/>
                        <a:t>1.124</a:t>
                      </a:r>
                    </a:p>
                  </a:txBody>
                  <a:tcPr/>
                </a:tc>
                <a:tc>
                  <a:txBody>
                    <a:bodyPr/>
                    <a:lstStyle/>
                    <a:p>
                      <a:r>
                        <a:rPr lang="en-US" dirty="0"/>
                        <a:t>0.3251</a:t>
                      </a:r>
                    </a:p>
                  </a:txBody>
                  <a:tcPr/>
                </a:tc>
                <a:extLst>
                  <a:ext uri="{0D108BD9-81ED-4DB2-BD59-A6C34878D82A}">
                    <a16:rowId xmlns:a16="http://schemas.microsoft.com/office/drawing/2014/main" xmlns="" val="1068290342"/>
                  </a:ext>
                </a:extLst>
              </a:tr>
              <a:tr h="248856">
                <a:tc>
                  <a:txBody>
                    <a:bodyPr/>
                    <a:lstStyle/>
                    <a:p>
                      <a:endParaRPr lang="en-US" dirty="0"/>
                    </a:p>
                  </a:txBody>
                  <a:tcPr/>
                </a:tc>
                <a:tc>
                  <a:txBody>
                    <a:bodyPr/>
                    <a:lstStyle/>
                    <a:p>
                      <a:r>
                        <a:rPr lang="en-US" dirty="0"/>
                        <a:t>1896</a:t>
                      </a:r>
                    </a:p>
                  </a:txBody>
                  <a:tcPr/>
                </a:tc>
                <a:tc>
                  <a:txBody>
                    <a:bodyPr/>
                    <a:lstStyle/>
                    <a:p>
                      <a:r>
                        <a:rPr lang="en-US" dirty="0"/>
                        <a:t>371452</a:t>
                      </a:r>
                    </a:p>
                  </a:txBody>
                  <a:tcPr/>
                </a:tc>
                <a:tc>
                  <a:txBody>
                    <a:bodyPr/>
                    <a:lstStyle/>
                    <a:p>
                      <a:r>
                        <a:rPr lang="en-US" dirty="0"/>
                        <a:t>196</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3126573164"/>
                  </a:ext>
                </a:extLst>
              </a:tr>
            </a:tbl>
          </a:graphicData>
        </a:graphic>
      </p:graphicFrame>
      <p:sp>
        <p:nvSpPr>
          <p:cNvPr id="11" name="TextBox 10">
            <a:extLst>
              <a:ext uri="{FF2B5EF4-FFF2-40B4-BE49-F238E27FC236}">
                <a16:creationId xmlns:a16="http://schemas.microsoft.com/office/drawing/2014/main" xmlns="" id="{716DE3DB-F4E7-6C42-AE31-497AF0D4F8F9}"/>
              </a:ext>
            </a:extLst>
          </p:cNvPr>
          <p:cNvSpPr txBox="1"/>
          <p:nvPr/>
        </p:nvSpPr>
        <p:spPr>
          <a:xfrm>
            <a:off x="838200" y="74032"/>
            <a:ext cx="7102642" cy="861774"/>
          </a:xfrm>
          <a:prstGeom prst="rect">
            <a:avLst/>
          </a:prstGeom>
          <a:noFill/>
        </p:spPr>
        <p:txBody>
          <a:bodyPr wrap="square" rtlCol="0">
            <a:spAutoFit/>
          </a:bodyPr>
          <a:lstStyle/>
          <a:p>
            <a:r>
              <a:rPr lang="en-US" sz="5000" b="1" dirty="0">
                <a:solidFill>
                  <a:schemeClr val="accent5"/>
                </a:solidFill>
              </a:rPr>
              <a:t>Findings</a:t>
            </a:r>
          </a:p>
        </p:txBody>
      </p:sp>
      <p:sp>
        <p:nvSpPr>
          <p:cNvPr id="12" name="TextBox 11">
            <a:extLst>
              <a:ext uri="{FF2B5EF4-FFF2-40B4-BE49-F238E27FC236}">
                <a16:creationId xmlns:a16="http://schemas.microsoft.com/office/drawing/2014/main" xmlns="" id="{6AB2F403-968F-0E43-B50C-EEA7E4E2CCD5}"/>
              </a:ext>
            </a:extLst>
          </p:cNvPr>
          <p:cNvSpPr txBox="1"/>
          <p:nvPr/>
        </p:nvSpPr>
        <p:spPr>
          <a:xfrm>
            <a:off x="433137" y="875206"/>
            <a:ext cx="8514348" cy="646331"/>
          </a:xfrm>
          <a:prstGeom prst="rect">
            <a:avLst/>
          </a:prstGeom>
          <a:noFill/>
        </p:spPr>
        <p:txBody>
          <a:bodyPr wrap="square" rtlCol="0">
            <a:spAutoFit/>
          </a:bodyPr>
          <a:lstStyle/>
          <a:p>
            <a:r>
              <a:rPr lang="en-US" dirty="0"/>
              <a:t>I tried with IQ change as a percentage as well:</a:t>
            </a:r>
          </a:p>
          <a:p>
            <a:r>
              <a:rPr lang="en-US" dirty="0"/>
              <a:t>Table -&gt; </a:t>
            </a:r>
            <a:r>
              <a:rPr lang="en-US" dirty="0" err="1"/>
              <a:t>aov</a:t>
            </a:r>
            <a:r>
              <a:rPr lang="en-US" dirty="0"/>
              <a:t>(</a:t>
            </a:r>
            <a:r>
              <a:rPr lang="en-US" dirty="0" err="1"/>
              <a:t>Percentage_IQChange</a:t>
            </a:r>
            <a:r>
              <a:rPr lang="en-US" dirty="0"/>
              <a:t> ~ Asthma* </a:t>
            </a:r>
            <a:r>
              <a:rPr lang="en-US" dirty="0" err="1"/>
              <a:t>RestInterval</a:t>
            </a:r>
            <a:r>
              <a:rPr lang="en-US" dirty="0"/>
              <a:t>)</a:t>
            </a:r>
          </a:p>
        </p:txBody>
      </p:sp>
      <p:sp>
        <p:nvSpPr>
          <p:cNvPr id="2" name="TextBox 1">
            <a:extLst>
              <a:ext uri="{FF2B5EF4-FFF2-40B4-BE49-F238E27FC236}">
                <a16:creationId xmlns:a16="http://schemas.microsoft.com/office/drawing/2014/main" xmlns="" id="{D2B205B4-4B35-4B4A-B900-A8B1EA8F1C88}"/>
              </a:ext>
            </a:extLst>
          </p:cNvPr>
          <p:cNvSpPr txBox="1"/>
          <p:nvPr/>
        </p:nvSpPr>
        <p:spPr>
          <a:xfrm>
            <a:off x="320842" y="3887095"/>
            <a:ext cx="9769642" cy="1815882"/>
          </a:xfrm>
          <a:prstGeom prst="rect">
            <a:avLst/>
          </a:prstGeom>
          <a:noFill/>
        </p:spPr>
        <p:txBody>
          <a:bodyPr wrap="square" rtlCol="0">
            <a:spAutoFit/>
          </a:bodyPr>
          <a:lstStyle/>
          <a:p>
            <a:r>
              <a:rPr lang="en-US" sz="1400" dirty="0"/>
              <a:t>When we calculate for percentage change in IQ:</a:t>
            </a:r>
          </a:p>
          <a:p>
            <a:pPr marL="285750" indent="-285750">
              <a:buFont typeface="Arial" panose="020B0604020202020204" pitchFamily="34" charset="0"/>
              <a:buChar char="•"/>
            </a:pPr>
            <a:r>
              <a:rPr lang="en-US" sz="1400" dirty="0"/>
              <a:t>We </a:t>
            </a:r>
            <a:r>
              <a:rPr lang="en-US" sz="1400" b="1" dirty="0"/>
              <a:t>fail to reje</a:t>
            </a:r>
            <a:r>
              <a:rPr lang="en-US" sz="1400" dirty="0"/>
              <a:t>ct the null that there is no significant interaction effect between having asthma and how long you are given to recover, in terms of mental cognition/critical thinking, in addition to the main effects.</a:t>
            </a:r>
          </a:p>
          <a:p>
            <a:endParaRPr lang="en-US" sz="1400" dirty="0"/>
          </a:p>
          <a:p>
            <a:pPr marL="285750" indent="-285750">
              <a:buFont typeface="Arial" panose="020B0604020202020204" pitchFamily="34" charset="0"/>
              <a:buChar char="•"/>
            </a:pPr>
            <a:r>
              <a:rPr lang="en-US" sz="1400" dirty="0"/>
              <a:t>We can </a:t>
            </a:r>
            <a:r>
              <a:rPr lang="en-US" sz="1400" b="1" dirty="0"/>
              <a:t>reject </a:t>
            </a:r>
            <a:r>
              <a:rPr lang="en-US" sz="1400" dirty="0"/>
              <a:t>the null that there is no significant effect of the observational factor - asthma.</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We </a:t>
            </a:r>
            <a:r>
              <a:rPr lang="en-US" sz="1400" b="1" i="1" dirty="0"/>
              <a:t>can</a:t>
            </a:r>
            <a:r>
              <a:rPr lang="en-US" sz="1400" dirty="0"/>
              <a:t> also, by a wide margin in any </a:t>
            </a:r>
            <a:r>
              <a:rPr lang="en-US" sz="1400" dirty="0" err="1"/>
              <a:t>anova</a:t>
            </a:r>
            <a:r>
              <a:rPr lang="en-US" sz="1400" dirty="0"/>
              <a:t> analysis, </a:t>
            </a:r>
            <a:r>
              <a:rPr lang="en-US" sz="1400" b="1" dirty="0"/>
              <a:t>reject</a:t>
            </a:r>
            <a:r>
              <a:rPr lang="en-US" sz="1400" dirty="0"/>
              <a:t> the null that time intervals have no significant effect on the outcome variable or that there is no significant effect of the experimental factor – rest interval.</a:t>
            </a:r>
          </a:p>
        </p:txBody>
      </p:sp>
      <p:sp>
        <p:nvSpPr>
          <p:cNvPr id="6" name="TextBox 5">
            <a:extLst>
              <a:ext uri="{FF2B5EF4-FFF2-40B4-BE49-F238E27FC236}">
                <a16:creationId xmlns:a16="http://schemas.microsoft.com/office/drawing/2014/main" xmlns="" id="{5079CD12-C314-8848-BAA8-3A1BF9FCCC7B}"/>
              </a:ext>
            </a:extLst>
          </p:cNvPr>
          <p:cNvSpPr txBox="1"/>
          <p:nvPr/>
        </p:nvSpPr>
        <p:spPr>
          <a:xfrm>
            <a:off x="320842" y="5655302"/>
            <a:ext cx="9769642" cy="1169551"/>
          </a:xfrm>
          <a:prstGeom prst="rect">
            <a:avLst/>
          </a:prstGeom>
          <a:noFill/>
        </p:spPr>
        <p:txBody>
          <a:bodyPr wrap="square" rtlCol="0">
            <a:spAutoFit/>
          </a:bodyPr>
          <a:lstStyle/>
          <a:p>
            <a:r>
              <a:rPr lang="en-US" sz="1400" dirty="0"/>
              <a:t>There is only a difference in hypothesis conclusions between </a:t>
            </a:r>
            <a:r>
              <a:rPr lang="en-US" sz="1400" dirty="0" err="1"/>
              <a:t>anova</a:t>
            </a:r>
            <a:r>
              <a:rPr lang="en-US" sz="1400" dirty="0"/>
              <a:t> on percentage change and </a:t>
            </a:r>
            <a:r>
              <a:rPr lang="en-US" sz="1400" dirty="0" err="1"/>
              <a:t>anova</a:t>
            </a:r>
            <a:r>
              <a:rPr lang="en-US" sz="1400" dirty="0"/>
              <a:t> on pure change for the observational factor’s effect.</a:t>
            </a:r>
          </a:p>
          <a:p>
            <a:pPr marL="285750" indent="-285750">
              <a:buFont typeface="Arial" panose="020B0604020202020204" pitchFamily="34" charset="0"/>
              <a:buChar char="•"/>
            </a:pPr>
            <a:r>
              <a:rPr lang="en-US" sz="1400" dirty="0"/>
              <a:t>Because it is so close to the .05 level of the absolute change </a:t>
            </a:r>
            <a:r>
              <a:rPr lang="en-US" sz="1400" dirty="0" err="1"/>
              <a:t>anova</a:t>
            </a:r>
            <a:r>
              <a:rPr lang="en-US" sz="1400" dirty="0"/>
              <a:t> model and it is below it for the percentage change model, I would, if I had to put my conclusion into a single statement, reject the null the the asthma factor has no effect on cognitive ability after exercise. </a:t>
            </a:r>
          </a:p>
        </p:txBody>
      </p:sp>
    </p:spTree>
    <p:extLst>
      <p:ext uri="{BB962C8B-B14F-4D97-AF65-F5344CB8AC3E}">
        <p14:creationId xmlns:p14="http://schemas.microsoft.com/office/powerpoint/2010/main" val="3855997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81624C79-B91E-4548-8282-6C3EA9769B3B}"/>
              </a:ext>
            </a:extLst>
          </p:cNvPr>
          <p:cNvSpPr txBox="1">
            <a:spLocks/>
          </p:cNvSpPr>
          <p:nvPr/>
        </p:nvSpPr>
        <p:spPr>
          <a:xfrm>
            <a:off x="672991" y="-182757"/>
            <a:ext cx="3807325" cy="1018572"/>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Interaction Plot</a:t>
            </a:r>
          </a:p>
        </p:txBody>
      </p:sp>
      <p:sp>
        <p:nvSpPr>
          <p:cNvPr id="5" name="Content Placeholder 9">
            <a:extLst>
              <a:ext uri="{FF2B5EF4-FFF2-40B4-BE49-F238E27FC236}">
                <a16:creationId xmlns:a16="http://schemas.microsoft.com/office/drawing/2014/main" xmlns="" id="{399ED150-3109-6741-867E-E2FA9BFEE30F}"/>
              </a:ext>
            </a:extLst>
          </p:cNvPr>
          <p:cNvSpPr txBox="1">
            <a:spLocks/>
          </p:cNvSpPr>
          <p:nvPr/>
        </p:nvSpPr>
        <p:spPr>
          <a:xfrm>
            <a:off x="397041" y="745959"/>
            <a:ext cx="4211053" cy="5978932"/>
          </a:xfrm>
          <a:prstGeom prst="rect">
            <a:avLst/>
          </a:prstGeom>
        </p:spPr>
        <p:txBody>
          <a:bodyPr vert="horz" lIns="91440" tIns="45720" rIns="91440" bIns="45720" rtlCol="0">
            <a:normAutofit fontScale="70000" lnSpcReduction="20000"/>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An </a:t>
            </a:r>
            <a:r>
              <a:rPr lang="en-US" sz="2000" b="1" dirty="0"/>
              <a:t>marked</a:t>
            </a:r>
            <a:r>
              <a:rPr lang="en-US" sz="2000" dirty="0"/>
              <a:t> </a:t>
            </a:r>
            <a:r>
              <a:rPr lang="en-US" sz="2000" b="1" dirty="0"/>
              <a:t>interaction effect </a:t>
            </a:r>
            <a:r>
              <a:rPr lang="en-US" sz="2000" dirty="0"/>
              <a:t>occurs when the rest interval increases from </a:t>
            </a:r>
            <a:r>
              <a:rPr lang="en-US" sz="2000" b="1" dirty="0"/>
              <a:t>20 to 40 minutes</a:t>
            </a:r>
            <a:r>
              <a:rPr lang="en-US" sz="2000" dirty="0"/>
              <a:t>:</a:t>
            </a:r>
          </a:p>
          <a:p>
            <a:pPr lvl="1"/>
            <a:r>
              <a:rPr lang="en-US" sz="1700" b="1" dirty="0">
                <a:solidFill>
                  <a:schemeClr val="tx2"/>
                </a:solidFill>
              </a:rPr>
              <a:t>The mean drop in IQ goes backward and </a:t>
            </a:r>
            <a:r>
              <a:rPr lang="en-US" sz="1700" b="1">
                <a:solidFill>
                  <a:schemeClr val="tx2"/>
                </a:solidFill>
              </a:rPr>
              <a:t>increases further for </a:t>
            </a:r>
            <a:r>
              <a:rPr lang="en-US" sz="1700" b="1" dirty="0">
                <a:solidFill>
                  <a:schemeClr val="tx2"/>
                </a:solidFill>
              </a:rPr>
              <a:t>the non-asthmatic group, despite the subjects getting even more rest, while decreasing slightly for the the asthmatic group.</a:t>
            </a:r>
          </a:p>
          <a:p>
            <a:pPr lvl="1"/>
            <a:r>
              <a:rPr lang="en-US" sz="1900" dirty="0"/>
              <a:t>A possible explanation could be that at somewhere between 20 and 40 minutes the gradual reduction in potential dopamine , adrenaline  or any corresponding short-term cognitive boosts from exercise begin to outweigh the cognitive benefits of short-term rest (for the average person with healthy lungs).</a:t>
            </a:r>
          </a:p>
          <a:p>
            <a:pPr lvl="1"/>
            <a:r>
              <a:rPr lang="en-US" sz="1900" dirty="0"/>
              <a:t>On the other hand, asthmatics may reap more benefits from the increased rest as they might still be catching their breath, so for them the net cognitive benefits remain positive.</a:t>
            </a:r>
          </a:p>
          <a:p>
            <a:pPr lvl="1"/>
            <a:r>
              <a:rPr lang="en-US" sz="1900" dirty="0"/>
              <a:t>Perhaps it is true that on the Island, there exists some threshold between 20 and 40 minutes where the decreased chemical boosts begin to slightly outweigh the increased rest.</a:t>
            </a:r>
          </a:p>
          <a:p>
            <a:pPr lvl="1"/>
            <a:r>
              <a:rPr lang="en-US" sz="1900" dirty="0"/>
              <a:t>Or perhaps there exists an unidentified factor which we failed to block for that has a very strong confounding effect that was not eliminated by a large randomly selected sample size and random assignments.</a:t>
            </a:r>
          </a:p>
          <a:p>
            <a:pPr lvl="1"/>
            <a:r>
              <a:rPr lang="en-US" sz="1900" dirty="0"/>
              <a:t>If we just consider the non-asthmatic, medium and long wait test groups and do a one-way </a:t>
            </a:r>
            <a:r>
              <a:rPr lang="en-US" sz="1900" dirty="0" err="1"/>
              <a:t>anova</a:t>
            </a:r>
            <a:r>
              <a:rPr lang="en-US" sz="1900" dirty="0"/>
              <a:t> looking at change in rest interval, it </a:t>
            </a:r>
            <a:r>
              <a:rPr lang="en-US" sz="1900" i="1" dirty="0"/>
              <a:t>barely</a:t>
            </a:r>
            <a:r>
              <a:rPr lang="en-US" sz="1900" dirty="0"/>
              <a:t> ails to be statistically significant – the p-value is 0.0552. If we add the asthmatics then it becomes far from significant, as suggested by the plot – the effects on each group are in opposite directions and thus balance out somewhat.</a:t>
            </a:r>
          </a:p>
          <a:p>
            <a:pPr lvl="1"/>
            <a:r>
              <a:rPr lang="en-US" sz="1900" dirty="0"/>
              <a:t>However, we can see that there is a significant interaction </a:t>
            </a:r>
            <a:r>
              <a:rPr lang="en-US" sz="1900" dirty="0" err="1"/>
              <a:t>effection</a:t>
            </a:r>
            <a:endParaRPr lang="en-US" sz="1900" dirty="0"/>
          </a:p>
          <a:p>
            <a:pPr lvl="1"/>
            <a:endParaRPr lang="en-US" sz="1200" dirty="0"/>
          </a:p>
        </p:txBody>
      </p:sp>
      <p:pic>
        <p:nvPicPr>
          <p:cNvPr id="6" name="Picture 5">
            <a:extLst>
              <a:ext uri="{FF2B5EF4-FFF2-40B4-BE49-F238E27FC236}">
                <a16:creationId xmlns:a16="http://schemas.microsoft.com/office/drawing/2014/main" xmlns="" id="{ABCEF704-5C39-A647-9FAB-108327D41B56}"/>
              </a:ext>
            </a:extLst>
          </p:cNvPr>
          <p:cNvPicPr>
            <a:picLocks noChangeAspect="1"/>
          </p:cNvPicPr>
          <p:nvPr/>
        </p:nvPicPr>
        <p:blipFill>
          <a:blip r:embed="rId2"/>
          <a:stretch>
            <a:fillRect/>
          </a:stretch>
        </p:blipFill>
        <p:spPr>
          <a:xfrm>
            <a:off x="4893129" y="231494"/>
            <a:ext cx="6924623" cy="6389225"/>
          </a:xfrm>
          <a:prstGeom prst="rect">
            <a:avLst/>
          </a:prstGeom>
        </p:spPr>
      </p:pic>
    </p:spTree>
    <p:extLst>
      <p:ext uri="{BB962C8B-B14F-4D97-AF65-F5344CB8AC3E}">
        <p14:creationId xmlns:p14="http://schemas.microsoft.com/office/powerpoint/2010/main" val="3550350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C8543B-5E73-2548-898E-693A5B7338E2}"/>
              </a:ext>
            </a:extLst>
          </p:cNvPr>
          <p:cNvSpPr>
            <a:spLocks noGrp="1"/>
          </p:cNvSpPr>
          <p:nvPr>
            <p:ph type="title"/>
          </p:nvPr>
        </p:nvSpPr>
        <p:spPr>
          <a:xfrm>
            <a:off x="691339" y="-361428"/>
            <a:ext cx="10515600" cy="1325563"/>
          </a:xfrm>
        </p:spPr>
        <p:txBody>
          <a:bodyPr/>
          <a:lstStyle/>
          <a:p>
            <a:r>
              <a:rPr lang="en-US" b="1" dirty="0">
                <a:solidFill>
                  <a:schemeClr val="accent5"/>
                </a:solidFill>
              </a:rPr>
              <a:t>Other Findings</a:t>
            </a:r>
          </a:p>
        </p:txBody>
      </p:sp>
      <p:sp>
        <p:nvSpPr>
          <p:cNvPr id="3" name="Content Placeholder 2">
            <a:extLst>
              <a:ext uri="{FF2B5EF4-FFF2-40B4-BE49-F238E27FC236}">
                <a16:creationId xmlns:a16="http://schemas.microsoft.com/office/drawing/2014/main" xmlns="" id="{2A64BD09-4EB4-AE41-B9CF-9EF594C68B99}"/>
              </a:ext>
            </a:extLst>
          </p:cNvPr>
          <p:cNvSpPr>
            <a:spLocks noGrp="1"/>
          </p:cNvSpPr>
          <p:nvPr>
            <p:ph idx="1"/>
          </p:nvPr>
        </p:nvSpPr>
        <p:spPr>
          <a:xfrm>
            <a:off x="838200" y="456136"/>
            <a:ext cx="10515600" cy="4351338"/>
          </a:xfrm>
        </p:spPr>
        <p:txBody>
          <a:bodyPr>
            <a:normAutofit/>
          </a:bodyPr>
          <a:lstStyle/>
          <a:p>
            <a:r>
              <a:rPr lang="en-US" sz="1500" dirty="0"/>
              <a:t>A basic two-sample t-test, comparing the mean IQ change for all asthmatics vs that on non-asthmatics, indicates some highly counterintuitive findings. Asthma does have a significant effect, but not in the downwards directions; asthmatics, on average, lose less points after exercise, for all rest interval lengths combined—though even if it is not by a lot and (barely</a:t>
            </a:r>
            <a:r>
              <a:rPr lang="en-US" sz="1500" i="1" dirty="0"/>
              <a:t>)</a:t>
            </a:r>
            <a:r>
              <a:rPr lang="en-US" sz="1500" dirty="0"/>
              <a:t> fails to be statistically significant. </a:t>
            </a:r>
          </a:p>
          <a:p>
            <a:r>
              <a:rPr lang="en-US" sz="1500" dirty="0"/>
              <a:t>What’s more, similar findings are apparent for Fitness Score. It appears that those with asthma are superior athletes on this Island. It’s not by much, but the p-value is highly significant. </a:t>
            </a:r>
          </a:p>
          <a:p>
            <a:pPr lvl="1"/>
            <a:r>
              <a:rPr lang="en-US" sz="1350" dirty="0"/>
              <a:t>The latter finding more than likely indicates that variance between the two samples remains even though the sample sizes are very large. </a:t>
            </a:r>
          </a:p>
          <a:p>
            <a:pPr lvl="1"/>
            <a:r>
              <a:rPr lang="en-US" sz="1350" dirty="0"/>
              <a:t>On the other hand, the initial finding simply makes little to no sense. Even if variances exist, they would have to be pretty extraordinary to suggest that asthmatics have quicker recovery from intense exertion than do non-asthmatics, which across nearly 2,000 total samples, is extremely unlikely to be a chance occurrence. </a:t>
            </a:r>
          </a:p>
          <a:p>
            <a:pPr lvl="1"/>
            <a:r>
              <a:rPr lang="en-US" sz="1350" dirty="0"/>
              <a:t>Furthermore,  by letting IQ Change be the response, I accounted for the differences in initial IQ between the the two samples so as to eliminate any potential confounding effect. This should almost entirely isolate our factor of interest – in the case asthma – from the innate differences in the sample populations. We’ve seen a couple counterintuitive findings, but this result is the least likely to be do to chance or confounding variance. It appears that the Island didn’t put a great deal of effort into properly representing the symptoms of asthma, but this is merely a moot point as the Island is the reality in which we are experimenting in – not our own.</a:t>
            </a:r>
          </a:p>
        </p:txBody>
      </p:sp>
      <p:graphicFrame>
        <p:nvGraphicFramePr>
          <p:cNvPr id="5" name="Table 4">
            <a:extLst>
              <a:ext uri="{FF2B5EF4-FFF2-40B4-BE49-F238E27FC236}">
                <a16:creationId xmlns:a16="http://schemas.microsoft.com/office/drawing/2014/main" xmlns="" id="{7E9782A6-4C5B-E944-BA5F-FA6B829743C2}"/>
              </a:ext>
            </a:extLst>
          </p:cNvPr>
          <p:cNvGraphicFramePr>
            <a:graphicFrameLocks noGrp="1"/>
          </p:cNvGraphicFramePr>
          <p:nvPr>
            <p:extLst>
              <p:ext uri="{D42A27DB-BD31-4B8C-83A1-F6EECF244321}">
                <p14:modId xmlns:p14="http://schemas.microsoft.com/office/powerpoint/2010/main" val="2874202309"/>
              </p:ext>
            </p:extLst>
          </p:nvPr>
        </p:nvGraphicFramePr>
        <p:xfrm>
          <a:off x="838200" y="3857170"/>
          <a:ext cx="8128000" cy="1478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xmlns="" val="2797540415"/>
                    </a:ext>
                  </a:extLst>
                </a:gridCol>
                <a:gridCol w="4064000">
                  <a:extLst>
                    <a:ext uri="{9D8B030D-6E8A-4147-A177-3AD203B41FA5}">
                      <a16:colId xmlns:a16="http://schemas.microsoft.com/office/drawing/2014/main" xmlns="" val="1899825763"/>
                    </a:ext>
                  </a:extLst>
                </a:gridCol>
              </a:tblGrid>
              <a:tr h="0">
                <a:tc>
                  <a:txBody>
                    <a:bodyPr/>
                    <a:lstStyle/>
                    <a:p>
                      <a:r>
                        <a:rPr lang="en-US" dirty="0"/>
                        <a:t>Mean Loss in IQ for Asthmatics</a:t>
                      </a:r>
                    </a:p>
                  </a:txBody>
                  <a:tcPr/>
                </a:tc>
                <a:tc>
                  <a:txBody>
                    <a:bodyPr/>
                    <a:lstStyle/>
                    <a:p>
                      <a:r>
                        <a:rPr lang="en-US" dirty="0"/>
                        <a:t>Mean Loss in IQ for Non-Asthmatics</a:t>
                      </a:r>
                    </a:p>
                  </a:txBody>
                  <a:tcPr/>
                </a:tc>
                <a:extLst>
                  <a:ext uri="{0D108BD9-81ED-4DB2-BD59-A6C34878D82A}">
                    <a16:rowId xmlns:a16="http://schemas.microsoft.com/office/drawing/2014/main" xmlns="" val="3454259792"/>
                  </a:ext>
                </a:extLst>
              </a:tr>
              <a:tr h="370840">
                <a:tc>
                  <a:txBody>
                    <a:bodyPr/>
                    <a:lstStyle/>
                    <a:p>
                      <a:r>
                        <a:rPr lang="en-US" dirty="0"/>
                        <a:t>-10.10</a:t>
                      </a:r>
                    </a:p>
                  </a:txBody>
                  <a:tcPr/>
                </a:tc>
                <a:tc>
                  <a:txBody>
                    <a:bodyPr/>
                    <a:lstStyle/>
                    <a:p>
                      <a:r>
                        <a:rPr lang="en-US" dirty="0"/>
                        <a:t>-9.35</a:t>
                      </a:r>
                    </a:p>
                  </a:txBody>
                  <a:tcPr/>
                </a:tc>
                <a:extLst>
                  <a:ext uri="{0D108BD9-81ED-4DB2-BD59-A6C34878D82A}">
                    <a16:rowId xmlns:a16="http://schemas.microsoft.com/office/drawing/2014/main" xmlns="" val="3203428175"/>
                  </a:ext>
                </a:extLst>
              </a:tr>
              <a:tr h="370840">
                <a:tc>
                  <a:txBody>
                    <a:bodyPr/>
                    <a:lstStyle/>
                    <a:p>
                      <a:r>
                        <a:rPr lang="en-US" dirty="0"/>
                        <a:t>Alt Hypothesis:</a:t>
                      </a:r>
                    </a:p>
                  </a:txBody>
                  <a:tcPr/>
                </a:tc>
                <a:tc>
                  <a:txBody>
                    <a:bodyPr/>
                    <a:lstStyle/>
                    <a:p>
                      <a:r>
                        <a:rPr lang="en-US" dirty="0"/>
                        <a:t>True difference in means is not equal 0</a:t>
                      </a:r>
                    </a:p>
                  </a:txBody>
                  <a:tcPr/>
                </a:tc>
                <a:extLst>
                  <a:ext uri="{0D108BD9-81ED-4DB2-BD59-A6C34878D82A}">
                    <a16:rowId xmlns:a16="http://schemas.microsoft.com/office/drawing/2014/main" xmlns="" val="1706338858"/>
                  </a:ext>
                </a:extLst>
              </a:tr>
              <a:tr h="370840">
                <a:tc>
                  <a:txBody>
                    <a:bodyPr/>
                    <a:lstStyle/>
                    <a:p>
                      <a:r>
                        <a:rPr lang="en-US" dirty="0"/>
                        <a:t>P-value:</a:t>
                      </a:r>
                    </a:p>
                  </a:txBody>
                  <a:tcPr/>
                </a:tc>
                <a:tc>
                  <a:txBody>
                    <a:bodyPr/>
                    <a:lstStyle/>
                    <a:p>
                      <a:r>
                        <a:rPr lang="en-US" dirty="0"/>
                        <a:t>0.0627</a:t>
                      </a:r>
                    </a:p>
                  </a:txBody>
                  <a:tcPr/>
                </a:tc>
                <a:extLst>
                  <a:ext uri="{0D108BD9-81ED-4DB2-BD59-A6C34878D82A}">
                    <a16:rowId xmlns:a16="http://schemas.microsoft.com/office/drawing/2014/main" xmlns="" val="866518865"/>
                  </a:ext>
                </a:extLst>
              </a:tr>
            </a:tbl>
          </a:graphicData>
        </a:graphic>
      </p:graphicFrame>
      <p:graphicFrame>
        <p:nvGraphicFramePr>
          <p:cNvPr id="7" name="Table 6">
            <a:extLst>
              <a:ext uri="{FF2B5EF4-FFF2-40B4-BE49-F238E27FC236}">
                <a16:creationId xmlns:a16="http://schemas.microsoft.com/office/drawing/2014/main" xmlns="" id="{7E2943FA-1BD7-8B40-9D51-084E463D38A9}"/>
              </a:ext>
            </a:extLst>
          </p:cNvPr>
          <p:cNvGraphicFramePr>
            <a:graphicFrameLocks noGrp="1"/>
          </p:cNvGraphicFramePr>
          <p:nvPr>
            <p:extLst>
              <p:ext uri="{D42A27DB-BD31-4B8C-83A1-F6EECF244321}">
                <p14:modId xmlns:p14="http://schemas.microsoft.com/office/powerpoint/2010/main" val="157129143"/>
              </p:ext>
            </p:extLst>
          </p:nvPr>
        </p:nvGraphicFramePr>
        <p:xfrm>
          <a:off x="838200" y="5335450"/>
          <a:ext cx="8128000" cy="1478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xmlns="" val="2797540415"/>
                    </a:ext>
                  </a:extLst>
                </a:gridCol>
                <a:gridCol w="4064000">
                  <a:extLst>
                    <a:ext uri="{9D8B030D-6E8A-4147-A177-3AD203B41FA5}">
                      <a16:colId xmlns:a16="http://schemas.microsoft.com/office/drawing/2014/main" xmlns="" val="1899825763"/>
                    </a:ext>
                  </a:extLst>
                </a:gridCol>
              </a:tblGrid>
              <a:tr h="0">
                <a:tc>
                  <a:txBody>
                    <a:bodyPr/>
                    <a:lstStyle/>
                    <a:p>
                      <a:r>
                        <a:rPr lang="en-US" dirty="0"/>
                        <a:t>Mean Fitness Score for Asthmatics</a:t>
                      </a:r>
                    </a:p>
                  </a:txBody>
                  <a:tcPr/>
                </a:tc>
                <a:tc>
                  <a:txBody>
                    <a:bodyPr/>
                    <a:lstStyle/>
                    <a:p>
                      <a:r>
                        <a:rPr lang="en-US" dirty="0"/>
                        <a:t>Mean Fitness Score for Non-Asthmatics</a:t>
                      </a:r>
                    </a:p>
                  </a:txBody>
                  <a:tcPr/>
                </a:tc>
                <a:extLst>
                  <a:ext uri="{0D108BD9-81ED-4DB2-BD59-A6C34878D82A}">
                    <a16:rowId xmlns:a16="http://schemas.microsoft.com/office/drawing/2014/main" xmlns="" val="3454259792"/>
                  </a:ext>
                </a:extLst>
              </a:tr>
              <a:tr h="370840">
                <a:tc>
                  <a:txBody>
                    <a:bodyPr/>
                    <a:lstStyle/>
                    <a:p>
                      <a:r>
                        <a:rPr lang="en-US" dirty="0"/>
                        <a:t>8.25</a:t>
                      </a:r>
                    </a:p>
                  </a:txBody>
                  <a:tcPr/>
                </a:tc>
                <a:tc>
                  <a:txBody>
                    <a:bodyPr/>
                    <a:lstStyle/>
                    <a:p>
                      <a:r>
                        <a:rPr lang="en-US" dirty="0"/>
                        <a:t>7.95</a:t>
                      </a:r>
                    </a:p>
                  </a:txBody>
                  <a:tcPr/>
                </a:tc>
                <a:extLst>
                  <a:ext uri="{0D108BD9-81ED-4DB2-BD59-A6C34878D82A}">
                    <a16:rowId xmlns:a16="http://schemas.microsoft.com/office/drawing/2014/main" xmlns="" val="3203428175"/>
                  </a:ext>
                </a:extLst>
              </a:tr>
              <a:tr h="370840">
                <a:tc>
                  <a:txBody>
                    <a:bodyPr/>
                    <a:lstStyle/>
                    <a:p>
                      <a:r>
                        <a:rPr lang="en-US" dirty="0"/>
                        <a:t>Alt Hypothesis:</a:t>
                      </a:r>
                    </a:p>
                  </a:txBody>
                  <a:tcPr/>
                </a:tc>
                <a:tc>
                  <a:txBody>
                    <a:bodyPr/>
                    <a:lstStyle/>
                    <a:p>
                      <a:r>
                        <a:rPr lang="en-US" dirty="0"/>
                        <a:t>True difference in means is not equal 0</a:t>
                      </a:r>
                    </a:p>
                  </a:txBody>
                  <a:tcPr/>
                </a:tc>
                <a:extLst>
                  <a:ext uri="{0D108BD9-81ED-4DB2-BD59-A6C34878D82A}">
                    <a16:rowId xmlns:a16="http://schemas.microsoft.com/office/drawing/2014/main" xmlns="" val="1706338858"/>
                  </a:ext>
                </a:extLst>
              </a:tr>
              <a:tr h="370840">
                <a:tc>
                  <a:txBody>
                    <a:bodyPr/>
                    <a:lstStyle/>
                    <a:p>
                      <a:r>
                        <a:rPr lang="en-US" dirty="0"/>
                        <a:t>P-value:</a:t>
                      </a:r>
                    </a:p>
                  </a:txBody>
                  <a:tcPr/>
                </a:tc>
                <a:tc>
                  <a:txBody>
                    <a:bodyPr/>
                    <a:lstStyle/>
                    <a:p>
                      <a:r>
                        <a:rPr lang="en-US" dirty="0"/>
                        <a:t>1.065e-05</a:t>
                      </a:r>
                    </a:p>
                  </a:txBody>
                  <a:tcPr/>
                </a:tc>
                <a:extLst>
                  <a:ext uri="{0D108BD9-81ED-4DB2-BD59-A6C34878D82A}">
                    <a16:rowId xmlns:a16="http://schemas.microsoft.com/office/drawing/2014/main" xmlns="" val="866518865"/>
                  </a:ext>
                </a:extLst>
              </a:tr>
            </a:tbl>
          </a:graphicData>
        </a:graphic>
      </p:graphicFrame>
    </p:spTree>
    <p:extLst>
      <p:ext uri="{BB962C8B-B14F-4D97-AF65-F5344CB8AC3E}">
        <p14:creationId xmlns:p14="http://schemas.microsoft.com/office/powerpoint/2010/main" val="274158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C8543B-5E73-2548-898E-693A5B7338E2}"/>
              </a:ext>
            </a:extLst>
          </p:cNvPr>
          <p:cNvSpPr>
            <a:spLocks noGrp="1"/>
          </p:cNvSpPr>
          <p:nvPr>
            <p:ph type="title"/>
          </p:nvPr>
        </p:nvSpPr>
        <p:spPr>
          <a:xfrm>
            <a:off x="954314" y="-332683"/>
            <a:ext cx="10515600" cy="1325563"/>
          </a:xfrm>
        </p:spPr>
        <p:txBody>
          <a:bodyPr>
            <a:normAutofit/>
          </a:bodyPr>
          <a:lstStyle/>
          <a:p>
            <a:r>
              <a:rPr lang="en-US" sz="3800" b="1" dirty="0">
                <a:solidFill>
                  <a:schemeClr val="accent5"/>
                </a:solidFill>
              </a:rPr>
              <a:t>Future Testing and Limitations</a:t>
            </a:r>
          </a:p>
        </p:txBody>
      </p:sp>
      <p:sp>
        <p:nvSpPr>
          <p:cNvPr id="3" name="Content Placeholder 2">
            <a:extLst>
              <a:ext uri="{FF2B5EF4-FFF2-40B4-BE49-F238E27FC236}">
                <a16:creationId xmlns:a16="http://schemas.microsoft.com/office/drawing/2014/main" xmlns="" id="{2A64BD09-4EB4-AE41-B9CF-9EF594C68B99}"/>
              </a:ext>
            </a:extLst>
          </p:cNvPr>
          <p:cNvSpPr>
            <a:spLocks noGrp="1"/>
          </p:cNvSpPr>
          <p:nvPr>
            <p:ph idx="1"/>
          </p:nvPr>
        </p:nvSpPr>
        <p:spPr>
          <a:xfrm>
            <a:off x="721895" y="624497"/>
            <a:ext cx="10631905" cy="6593304"/>
          </a:xfrm>
        </p:spPr>
        <p:txBody>
          <a:bodyPr>
            <a:noAutofit/>
          </a:bodyPr>
          <a:lstStyle/>
          <a:p>
            <a:r>
              <a:rPr lang="en-US" sz="1300" dirty="0"/>
              <a:t>What’s interesting is that </a:t>
            </a:r>
            <a:r>
              <a:rPr lang="en-US" sz="1300" b="1" dirty="0"/>
              <a:t>fitness score </a:t>
            </a:r>
            <a:r>
              <a:rPr lang="en-US" sz="1300" dirty="0"/>
              <a:t>and </a:t>
            </a:r>
            <a:r>
              <a:rPr lang="en-US" sz="1300" b="1" dirty="0"/>
              <a:t>age</a:t>
            </a:r>
            <a:r>
              <a:rPr lang="en-US" sz="1300" dirty="0"/>
              <a:t>, or </a:t>
            </a:r>
            <a:r>
              <a:rPr lang="en-US" sz="1300" b="1" dirty="0"/>
              <a:t>age groups </a:t>
            </a:r>
            <a:r>
              <a:rPr lang="en-US" sz="1300" dirty="0"/>
              <a:t>(5 - 17, 18 - 44, 45 – 64, 65- 84, 85+) especially, are the best predictors of IQ loss in MLR, and the two do go hand in hand a bit, while asthma doesn’t really have much correlation with fitness score.</a:t>
            </a:r>
          </a:p>
          <a:p>
            <a:r>
              <a:rPr lang="en-US" sz="1300" dirty="0"/>
              <a:t>Therefore, I think it would be instructive to block for age groups in the future, perhaps with blocks similar to the age groups outlined above. The average age is 32.17 for the asthmatic sample and 29.02 for the non-asthmatic sample, and a two-sample </a:t>
            </a:r>
            <a:r>
              <a:rPr lang="en-US" sz="1300" dirty="0" err="1"/>
              <a:t>t.test</a:t>
            </a:r>
            <a:r>
              <a:rPr lang="en-US" sz="1300" dirty="0"/>
              <a:t> indicates that there is a statistically significant difference depending on asthma status. Even though the sample sizes are extremely large and I accounted for variance in initial IQ between the two sample samples as well, I suppose there is perhaps enough variation in the ages of the individuals between the two samples to confound some of the findings to some degree. Again, it’s impossible to know how the Island is programmed – an example of a scenario that could still lead to confounding despite all my efforts could be: perhaps exercise effects asthmatics in the adolescent age group far, far, far more than it does in the other age groups, the adolescent age group has a very sharp cutoff at age 13, and just by chance several dozen more adolescents are found in the non-asthmatic sample than in the asthmatic sample.</a:t>
            </a:r>
          </a:p>
          <a:p>
            <a:r>
              <a:rPr lang="en-US" sz="1300" dirty="0"/>
              <a:t>I would also like to, in place of -- or in addition to -- the binary asthma column, add a binary column called </a:t>
            </a:r>
            <a:r>
              <a:rPr lang="en-US" sz="1300" b="1" dirty="0"/>
              <a:t>‘</a:t>
            </a:r>
            <a:r>
              <a:rPr lang="en-US" sz="1300" b="1" dirty="0" err="1"/>
              <a:t>AsthmaAttackInduced</a:t>
            </a:r>
            <a:r>
              <a:rPr lang="en-US" sz="1300" b="1" dirty="0"/>
              <a:t>’</a:t>
            </a:r>
            <a:r>
              <a:rPr lang="en-US" sz="1300" dirty="0"/>
              <a:t>, which would indicate whether or not an individual is actually experiencing the symptoms. Though the Island says ‘Dominic’ </a:t>
            </a:r>
            <a:r>
              <a:rPr lang="en-US" sz="1300" i="1" dirty="0"/>
              <a:t>suffers</a:t>
            </a:r>
            <a:r>
              <a:rPr lang="en-US" sz="1300" dirty="0"/>
              <a:t> from asthma, it is -- both in reality and in this alternative reality as well -- very possible to be fit enough (or medicated enough) to avoid symptoms most of the time for many people.</a:t>
            </a:r>
          </a:p>
          <a:p>
            <a:r>
              <a:rPr lang="en-US" sz="1300" dirty="0"/>
              <a:t>Finally, I was originally really interested in the interaction effect of exercise, cold weather and asthma all together. However not before long, I thought this would not be possible as the temperature is initially a ‘?’ upon opening a village’s URL, but I later found a pattern – the more southern a village is, the colder it is. This would allow for basic temperature grouping but recently I  discovered how to identify the exact temperature for the villages in real-time – replace the relevant village’s number for the ’37’ in the URL, ‘http://</a:t>
            </a:r>
            <a:r>
              <a:rPr lang="en-US" sz="1300" dirty="0" err="1"/>
              <a:t>island.maths.uq.edu.au</a:t>
            </a:r>
            <a:r>
              <a:rPr lang="en-US" sz="1300" dirty="0"/>
              <a:t>/</a:t>
            </a:r>
            <a:r>
              <a:rPr lang="en-US" sz="1300" dirty="0" err="1"/>
              <a:t>temperature.php?village</a:t>
            </a:r>
            <a:r>
              <a:rPr lang="en-US" sz="1300" dirty="0"/>
              <a:t>=37&amp;timezone=-7’, and then this URL will lead to a page with where the only text is simply the village’s temperature. Regardless, all was for naught, as this Island only accounts for the Australian climate and is always relatively quite warm in all villages.  </a:t>
            </a:r>
          </a:p>
          <a:p>
            <a:pPr lvl="1"/>
            <a:r>
              <a:rPr lang="en-US" sz="1000" dirty="0"/>
              <a:t>Humidity and altitude would also be interesting to measure, for they often interact with asthma as well.</a:t>
            </a:r>
          </a:p>
          <a:p>
            <a:r>
              <a:rPr lang="en-US" sz="1300" dirty="0"/>
              <a:t>Overall, further steps include:</a:t>
            </a:r>
          </a:p>
          <a:p>
            <a:pPr lvl="1"/>
            <a:r>
              <a:rPr lang="en-US" sz="1300" b="1" dirty="0">
                <a:solidFill>
                  <a:schemeClr val="accent5"/>
                </a:solidFill>
              </a:rPr>
              <a:t>Induce asthma episodes as a treatment (assuming the Island doesn’t care for ethics), or measure symptoms to store 1, for currently having an attack, and 0, for not, in a column</a:t>
            </a:r>
          </a:p>
          <a:p>
            <a:pPr lvl="1"/>
            <a:r>
              <a:rPr lang="en-US" sz="1300" b="1" dirty="0">
                <a:solidFill>
                  <a:schemeClr val="accent5"/>
                </a:solidFill>
              </a:rPr>
              <a:t>Block by age groups</a:t>
            </a:r>
          </a:p>
          <a:p>
            <a:pPr lvl="1"/>
            <a:r>
              <a:rPr lang="en-US" sz="1300" b="1" dirty="0">
                <a:solidFill>
                  <a:schemeClr val="accent5"/>
                </a:solidFill>
              </a:rPr>
              <a:t>Conquer Siberia and record the humidity and altitude for all of its villages as well</a:t>
            </a:r>
          </a:p>
          <a:p>
            <a:pPr lvl="1"/>
            <a:r>
              <a:rPr lang="en-US" sz="1300" b="1" dirty="0">
                <a:solidFill>
                  <a:schemeClr val="accent5"/>
                </a:solidFill>
              </a:rPr>
              <a:t>A partner or assistant would also be very helpful for the field work. Had I a second Island account, I could double the sample size. Also, it is quite demanding computationally to run all of these tests and create thousands of bots-- I usually had to set up kernels on  my computer, on a desktop at the library, and on a library rental computer in order to run everything within a precise time intervals. So, with another person and another computer, even more tests could be conducted, without sacrificing sample size.  A partner would most likely contribute some good ideas as well</a:t>
            </a:r>
          </a:p>
        </p:txBody>
      </p:sp>
    </p:spTree>
    <p:extLst>
      <p:ext uri="{BB962C8B-B14F-4D97-AF65-F5344CB8AC3E}">
        <p14:creationId xmlns:p14="http://schemas.microsoft.com/office/powerpoint/2010/main" val="11479691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Theme</Template>
  <TotalTime>904</TotalTime>
  <Words>2223</Words>
  <Application>Microsoft Macintosh PowerPoint</Application>
  <PresentationFormat>Widescreen</PresentationFormat>
  <Paragraphs>171</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Apple Symbols</vt:lpstr>
      <vt:lpstr>Calibri</vt:lpstr>
      <vt:lpstr>Calibri Light</vt:lpstr>
      <vt:lpstr>Hiragino Mincho ProN</vt:lpstr>
      <vt:lpstr>Menlo</vt:lpstr>
      <vt:lpstr>YuMincho</vt:lpstr>
      <vt:lpstr>Arial</vt:lpstr>
      <vt:lpstr>Office Theme</vt:lpstr>
      <vt:lpstr>Effects of Exercise on Short-Term Cognition After Varying Recovery Intervals with a Focus on the Effects of Asthma</vt:lpstr>
      <vt:lpstr>PowerPoint Presentation</vt:lpstr>
      <vt:lpstr>PowerPoint Presentation</vt:lpstr>
      <vt:lpstr>PowerPoint Presentation</vt:lpstr>
      <vt:lpstr>PowerPoint Presentation</vt:lpstr>
      <vt:lpstr>PowerPoint Presentation</vt:lpstr>
      <vt:lpstr>Other Findings</vt:lpstr>
      <vt:lpstr>Future Testing and Limitations</vt:lpstr>
    </vt:vector>
  </TitlesOfParts>
  <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Effects of Exercise and the Potential Decreased-Recovery Rates on Cognition in the Short-Term </dc:title>
  <dc:creator>Connor Hennen</dc:creator>
  <cp:lastModifiedBy>Connor Hennen</cp:lastModifiedBy>
  <cp:revision>45</cp:revision>
  <cp:lastPrinted>2018-03-16T14:01:12Z</cp:lastPrinted>
  <dcterms:created xsi:type="dcterms:W3CDTF">2018-03-16T13:36:05Z</dcterms:created>
  <dcterms:modified xsi:type="dcterms:W3CDTF">2018-08-31T06:41:56Z</dcterms:modified>
</cp:coreProperties>
</file>